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27" y="10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黃家瑞" userId="cbeb5216-02b1-442f-9ecc-97627d66f837" providerId="ADAL" clId="{E8423EC4-23DF-4B78-A520-083262B3004B}"/>
    <pc:docChg chg="undo custSel addSld delSld modSld">
      <pc:chgData name="黃家瑞" userId="cbeb5216-02b1-442f-9ecc-97627d66f837" providerId="ADAL" clId="{E8423EC4-23DF-4B78-A520-083262B3004B}" dt="2026-04-01T04:32:20.400" v="133" actId="478"/>
      <pc:docMkLst>
        <pc:docMk/>
      </pc:docMkLst>
      <pc:sldChg chg="addSp delSp modSp add mod modTransition setBg">
        <pc:chgData name="黃家瑞" userId="cbeb5216-02b1-442f-9ecc-97627d66f837" providerId="ADAL" clId="{E8423EC4-23DF-4B78-A520-083262B3004B}" dt="2026-04-01T04:32:20.400" v="133" actId="478"/>
        <pc:sldMkLst>
          <pc:docMk/>
          <pc:sldMk cId="2245196662" sldId="280"/>
        </pc:sldMkLst>
        <pc:spChg chg="add del">
          <ac:chgData name="黃家瑞" userId="cbeb5216-02b1-442f-9ecc-97627d66f837" providerId="ADAL" clId="{E8423EC4-23DF-4B78-A520-083262B3004B}" dt="2026-04-01T04:32:20.400" v="133" actId="478"/>
          <ac:spMkLst>
            <pc:docMk/>
            <pc:sldMk cId="2245196662" sldId="280"/>
            <ac:spMk id="6" creationId="{1B9CF5BE-A05E-202E-4A96-50998941ABA5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image" Target="../media/image22.jpe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4.jpeg"/><Relationship Id="rId1" Type="http://schemas.openxmlformats.org/officeDocument/2006/relationships/image" Target="../media/image25.jpe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image" Target="../media/image28.jpe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image" Target="../media/image40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image" Target="../media/image22.jpe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4.jpeg"/><Relationship Id="rId1" Type="http://schemas.openxmlformats.org/officeDocument/2006/relationships/image" Target="../media/image25.jpe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image" Target="../media/image28.jpe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image" Target="../media/image40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F37F2A-281A-43A8-9A9B-9F5B69B16C04}" type="doc">
      <dgm:prSet loTypeId="urn:microsoft.com/office/officeart/2024/3/layout/verticalVisualTextBlock1" loCatId="Picture" qsTypeId="urn:microsoft.com/office/officeart/2005/8/quickstyle/simple4" qsCatId="simple" csTypeId="urn:microsoft.com/office/officeart/2005/8/colors/accent0_2" csCatId="mainScheme" phldr="1"/>
      <dgm:spPr/>
      <dgm:t>
        <a:bodyPr/>
        <a:lstStyle/>
        <a:p>
          <a:endParaRPr lang="zh-TW" altLang="en-US"/>
        </a:p>
      </dgm:t>
    </dgm:pt>
    <dgm:pt modelId="{80828FF8-2BB3-48A4-8CE0-460CC363757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TW"/>
            <a:t>拖延造成競爭力下滑</a:t>
          </a:r>
        </a:p>
      </dgm:t>
    </dgm:pt>
    <dgm:pt modelId="{6D77EB72-1363-4B13-9DF6-721CABA105F2}" type="parTrans" cxnId="{0BE4A8CE-1557-40D5-935B-9BFAF8AF9D5B}">
      <dgm:prSet/>
      <dgm:spPr/>
      <dgm:t>
        <a:bodyPr/>
        <a:lstStyle/>
        <a:p>
          <a:endParaRPr lang="zh-TW" altLang="en-US"/>
        </a:p>
      </dgm:t>
    </dgm:pt>
    <dgm:pt modelId="{2C73FDA3-EFBF-43D9-9232-03F603B7EA4B}" type="sibTrans" cxnId="{0BE4A8CE-1557-40D5-935B-9BFAF8AF9D5B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zh-TW" altLang="en-US"/>
        </a:p>
      </dgm:t>
    </dgm:pt>
    <dgm:pt modelId="{1B8FA010-F675-47DA-9791-B1820415C8DD}">
      <dgm:prSet/>
      <dgm:spPr/>
      <dgm:t>
        <a:bodyPr/>
        <a:lstStyle/>
        <a:p>
          <a:pPr>
            <a:lnSpc>
              <a:spcPct val="100000"/>
            </a:lnSpc>
          </a:pPr>
          <a:r>
            <a:rPr lang="zh-TW"/>
            <a:t>企業若僅維持現狀或拖延轉型，容易錯失市場機會並導致競爭力下降與風險提升。</a:t>
          </a:r>
        </a:p>
      </dgm:t>
    </dgm:pt>
    <dgm:pt modelId="{A2A0EDF8-C154-49BA-8D52-BED61182B502}" type="parTrans" cxnId="{DED78D2A-6F7A-47D6-95C6-58FAE52617AB}">
      <dgm:prSet/>
      <dgm:spPr/>
      <dgm:t>
        <a:bodyPr/>
        <a:lstStyle/>
        <a:p>
          <a:endParaRPr lang="zh-TW" altLang="en-US"/>
        </a:p>
      </dgm:t>
    </dgm:pt>
    <dgm:pt modelId="{10BAC7F9-0A1B-4B86-AAC1-9C12B718AAC7}" type="sibTrans" cxnId="{DED78D2A-6F7A-47D6-95C6-58FAE52617AB}">
      <dgm:prSet/>
      <dgm:spPr/>
      <dgm:t>
        <a:bodyPr/>
        <a:lstStyle/>
        <a:p>
          <a:endParaRPr lang="zh-TW" altLang="en-US"/>
        </a:p>
      </dgm:t>
    </dgm:pt>
    <dgm:pt modelId="{01B75EEB-F420-430A-9C35-10D32134AB0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TW"/>
            <a:t>錯失數位變革教訓</a:t>
          </a:r>
        </a:p>
      </dgm:t>
    </dgm:pt>
    <dgm:pt modelId="{03491636-423F-4577-A6E0-99650AFA0705}" type="parTrans" cxnId="{7C9DB2E2-E2F9-464B-920A-F81D9B0D8498}">
      <dgm:prSet/>
      <dgm:spPr/>
      <dgm:t>
        <a:bodyPr/>
        <a:lstStyle/>
        <a:p>
          <a:endParaRPr lang="zh-TW" altLang="en-US"/>
        </a:p>
      </dgm:t>
    </dgm:pt>
    <dgm:pt modelId="{BC288E1F-1F30-4C0A-BFEA-DB690463C60A}" type="sibTrans" cxnId="{7C9DB2E2-E2F9-464B-920A-F81D9B0D8498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zh-TW" altLang="en-US"/>
        </a:p>
      </dgm:t>
    </dgm:pt>
    <dgm:pt modelId="{F50924B1-C627-44B3-B5FC-C2470FC3A7A7}">
      <dgm:prSet/>
      <dgm:spPr/>
      <dgm:t>
        <a:bodyPr/>
        <a:lstStyle/>
        <a:p>
          <a:pPr>
            <a:lnSpc>
              <a:spcPct val="100000"/>
            </a:lnSpc>
          </a:pPr>
          <a:r>
            <a:rPr lang="zh-TW"/>
            <a:t>Kodak與Blockbuster未能及時轉型，成為錯失數位浪潮的經典反例，警示企業需積極調整。</a:t>
          </a:r>
        </a:p>
      </dgm:t>
    </dgm:pt>
    <dgm:pt modelId="{CD224ACD-57C4-4886-96CC-32BE53511704}" type="parTrans" cxnId="{5FCE4A60-5156-4A71-B65E-F03406D54ED2}">
      <dgm:prSet/>
      <dgm:spPr/>
      <dgm:t>
        <a:bodyPr/>
        <a:lstStyle/>
        <a:p>
          <a:endParaRPr lang="zh-TW" altLang="en-US"/>
        </a:p>
      </dgm:t>
    </dgm:pt>
    <dgm:pt modelId="{F881A1A2-9887-45D3-90E7-A5BC0C646AEC}" type="sibTrans" cxnId="{5FCE4A60-5156-4A71-B65E-F03406D54ED2}">
      <dgm:prSet/>
      <dgm:spPr/>
      <dgm:t>
        <a:bodyPr/>
        <a:lstStyle/>
        <a:p>
          <a:endParaRPr lang="zh-TW" altLang="en-US"/>
        </a:p>
      </dgm:t>
    </dgm:pt>
    <dgm:pt modelId="{09F86A56-6772-4417-BA57-B264DE5DF66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TW"/>
            <a:t>整體策略編排核心</a:t>
          </a:r>
        </a:p>
      </dgm:t>
    </dgm:pt>
    <dgm:pt modelId="{85382E54-D2DE-484F-BE5B-2D26DDE9E25D}" type="parTrans" cxnId="{48CD37AB-3F0C-471B-9B2F-4AAC5184DC85}">
      <dgm:prSet/>
      <dgm:spPr/>
      <dgm:t>
        <a:bodyPr/>
        <a:lstStyle/>
        <a:p>
          <a:endParaRPr lang="zh-TW" altLang="en-US"/>
        </a:p>
      </dgm:t>
    </dgm:pt>
    <dgm:pt modelId="{530C2247-5C8E-4205-85DE-1B9D83419B33}" type="sibTrans" cxnId="{48CD37AB-3F0C-471B-9B2F-4AAC5184DC85}">
      <dgm:prSet/>
      <dgm:spPr/>
      <dgm:t>
        <a:bodyPr/>
        <a:lstStyle/>
        <a:p>
          <a:endParaRPr lang="zh-TW" altLang="en-US"/>
        </a:p>
      </dgm:t>
    </dgm:pt>
    <dgm:pt modelId="{1EE62B5E-0553-4728-8C3C-A9CB8529125A}">
      <dgm:prSet/>
      <dgm:spPr/>
      <dgm:t>
        <a:bodyPr/>
        <a:lstStyle/>
        <a:p>
          <a:pPr>
            <a:lnSpc>
              <a:spcPct val="100000"/>
            </a:lnSpc>
          </a:pPr>
          <a:r>
            <a:rPr lang="zh-TW"/>
            <a:t>企業轉型應以整體策略為核心，避免零散創新，才能長期維持競爭力和市場領先。</a:t>
          </a:r>
        </a:p>
      </dgm:t>
    </dgm:pt>
    <dgm:pt modelId="{D7183236-7833-4F99-A365-29E09075ED37}" type="parTrans" cxnId="{2DB11FDC-348A-4229-B15D-11BB7E6F5F28}">
      <dgm:prSet/>
      <dgm:spPr/>
      <dgm:t>
        <a:bodyPr/>
        <a:lstStyle/>
        <a:p>
          <a:endParaRPr lang="zh-TW" altLang="en-US"/>
        </a:p>
      </dgm:t>
    </dgm:pt>
    <dgm:pt modelId="{CD095912-8496-49A9-9896-AB1439A2E0A4}" type="sibTrans" cxnId="{2DB11FDC-348A-4229-B15D-11BB7E6F5F28}">
      <dgm:prSet/>
      <dgm:spPr/>
      <dgm:t>
        <a:bodyPr/>
        <a:lstStyle/>
        <a:p>
          <a:endParaRPr lang="zh-TW" altLang="en-US"/>
        </a:p>
      </dgm:t>
    </dgm:pt>
    <dgm:pt modelId="{0C23BB1E-DB6D-4B6C-90AF-65232EE92810}" type="pres">
      <dgm:prSet presAssocID="{6AF37F2A-281A-43A8-9A9B-9F5B69B16C04}" presName="Root" presStyleCnt="0">
        <dgm:presLayoutVars>
          <dgm:dir/>
          <dgm:resizeHandles val="exact"/>
        </dgm:presLayoutVars>
      </dgm:prSet>
      <dgm:spPr/>
    </dgm:pt>
    <dgm:pt modelId="{5CB742D9-DACF-4DD2-A223-EE3ADB989D2F}" type="pres">
      <dgm:prSet presAssocID="{80828FF8-2BB3-48A4-8CE0-460CC363757E}" presName="Composite" presStyleCnt="0"/>
      <dgm:spPr/>
    </dgm:pt>
    <dgm:pt modelId="{C3EF8711-DE4D-4EAE-ADA9-42768B3D62C0}" type="pres">
      <dgm:prSet presAssocID="{80828FF8-2BB3-48A4-8CE0-460CC363757E}" presName="Picture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26" r="9071" b="-4"/>
          <a:stretch/>
        </a:blipFill>
      </dgm:spPr>
      <dgm:extLst>
        <a:ext uri="{E40237B7-FDA0-4F09-8148-C483321AD2D9}">
          <dgm14:cNvPr xmlns:dgm14="http://schemas.microsoft.com/office/drawing/2010/diagram" id="0" name="" descr="3D 樓梯設計"/>
        </a:ext>
      </dgm:extLst>
    </dgm:pt>
    <dgm:pt modelId="{9267BFE5-A7F1-4F16-BAFD-09E8446A15A8}" type="pres">
      <dgm:prSet presAssocID="{80828FF8-2BB3-48A4-8CE0-460CC363757E}" presName="Subtitle" presStyleLbl="revTx" presStyleIdx="0" presStyleCnt="6">
        <dgm:presLayoutVars>
          <dgm:chMax val="0"/>
          <dgm:bulletEnabled/>
        </dgm:presLayoutVars>
      </dgm:prSet>
      <dgm:spPr/>
    </dgm:pt>
    <dgm:pt modelId="{454F64F0-59E8-469D-868B-AEFA76FF61DC}" type="pres">
      <dgm:prSet presAssocID="{80828FF8-2BB3-48A4-8CE0-460CC363757E}" presName="Description" presStyleLbl="revTx" presStyleIdx="1" presStyleCnt="6">
        <dgm:presLayoutVars>
          <dgm:bulletEnabled/>
        </dgm:presLayoutVars>
      </dgm:prSet>
      <dgm:spPr/>
    </dgm:pt>
    <dgm:pt modelId="{6E3E4FC6-01FB-4E9A-AFB1-AA57602C1C5C}" type="pres">
      <dgm:prSet presAssocID="{2C73FDA3-EFBF-43D9-9232-03F603B7EA4B}" presName="sibTrans" presStyleLbl="sibTrans2D1" presStyleIdx="0" presStyleCnt="0"/>
      <dgm:spPr/>
    </dgm:pt>
    <dgm:pt modelId="{B081EE7A-6AE4-4AD3-860C-E00FB3FCAABF}" type="pres">
      <dgm:prSet presAssocID="{01B75EEB-F420-430A-9C35-10D32134AB0E}" presName="Composite" presStyleCnt="0"/>
      <dgm:spPr/>
    </dgm:pt>
    <dgm:pt modelId="{38D12CC9-30B0-421E-844B-148CD633873A}" type="pres">
      <dgm:prSet presAssocID="{01B75EEB-F420-430A-9C35-10D32134AB0E}" presName="Picture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35" r="18111" b="-7"/>
          <a:stretch/>
        </a:blipFill>
      </dgm:spPr>
      <dgm:extLst>
        <a:ext uri="{E40237B7-FDA0-4F09-8148-C483321AD2D9}">
          <dgm14:cNvPr xmlns:dgm14="http://schemas.microsoft.com/office/drawing/2010/diagram" id="0" name="" descr="1940年的復古中片幅相機。準備拍攝義大利一條巷弄。"/>
        </a:ext>
      </dgm:extLst>
    </dgm:pt>
    <dgm:pt modelId="{7609CFDB-7027-4C46-972A-68610B9C643F}" type="pres">
      <dgm:prSet presAssocID="{01B75EEB-F420-430A-9C35-10D32134AB0E}" presName="Subtitle" presStyleLbl="revTx" presStyleIdx="2" presStyleCnt="6">
        <dgm:presLayoutVars>
          <dgm:chMax val="0"/>
          <dgm:bulletEnabled/>
        </dgm:presLayoutVars>
      </dgm:prSet>
      <dgm:spPr/>
    </dgm:pt>
    <dgm:pt modelId="{834D8BC6-6149-42CD-9AA9-E06B45B20EA8}" type="pres">
      <dgm:prSet presAssocID="{01B75EEB-F420-430A-9C35-10D32134AB0E}" presName="Description" presStyleLbl="revTx" presStyleIdx="3" presStyleCnt="6">
        <dgm:presLayoutVars>
          <dgm:bulletEnabled/>
        </dgm:presLayoutVars>
      </dgm:prSet>
      <dgm:spPr/>
    </dgm:pt>
    <dgm:pt modelId="{88B85A53-0220-49CB-A804-B1DEC10DC950}" type="pres">
      <dgm:prSet presAssocID="{BC288E1F-1F30-4C0A-BFEA-DB690463C60A}" presName="sibTrans" presStyleLbl="sibTrans2D1" presStyleIdx="0" presStyleCnt="0"/>
      <dgm:spPr/>
    </dgm:pt>
    <dgm:pt modelId="{1F634CB7-B47A-431D-BF83-44F10F203F25}" type="pres">
      <dgm:prSet presAssocID="{09F86A56-6772-4417-BA57-B264DE5DF667}" presName="Composite" presStyleCnt="0"/>
      <dgm:spPr/>
    </dgm:pt>
    <dgm:pt modelId="{90C2DB17-FE24-4D64-832F-F00D8DA2B0D1}" type="pres">
      <dgm:prSet presAssocID="{09F86A56-6772-4417-BA57-B264DE5DF667}" presName="Picture" presStyleLbl="nod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" b="24997"/>
          <a:stretch/>
        </a:blipFill>
      </dgm:spPr>
      <dgm:extLst>
        <a:ext uri="{E40237B7-FDA0-4F09-8148-C483321AD2D9}">
          <dgm14:cNvPr xmlns:dgm14="http://schemas.microsoft.com/office/drawing/2010/diagram" id="0" name="" descr="業務團隊從字母區塊組成單字。"/>
        </a:ext>
      </dgm:extLst>
    </dgm:pt>
    <dgm:pt modelId="{00D5F7AC-1DD5-4374-A666-B6EF4D2FB38D}" type="pres">
      <dgm:prSet presAssocID="{09F86A56-6772-4417-BA57-B264DE5DF667}" presName="Subtitle" presStyleLbl="revTx" presStyleIdx="4" presStyleCnt="6">
        <dgm:presLayoutVars>
          <dgm:chMax val="0"/>
          <dgm:bulletEnabled/>
        </dgm:presLayoutVars>
      </dgm:prSet>
      <dgm:spPr/>
    </dgm:pt>
    <dgm:pt modelId="{977C8A10-6593-47C4-8A80-6E1ED129C286}" type="pres">
      <dgm:prSet presAssocID="{09F86A56-6772-4417-BA57-B264DE5DF667}" presName="Description" presStyleLbl="revTx" presStyleIdx="5" presStyleCnt="6">
        <dgm:presLayoutVars>
          <dgm:bulletEnabled/>
        </dgm:presLayoutVars>
      </dgm:prSet>
      <dgm:spPr/>
    </dgm:pt>
  </dgm:ptLst>
  <dgm:cxnLst>
    <dgm:cxn modelId="{DED78D2A-6F7A-47D6-95C6-58FAE52617AB}" srcId="{80828FF8-2BB3-48A4-8CE0-460CC363757E}" destId="{1B8FA010-F675-47DA-9791-B1820415C8DD}" srcOrd="0" destOrd="0" parTransId="{A2A0EDF8-C154-49BA-8D52-BED61182B502}" sibTransId="{10BAC7F9-0A1B-4B86-AAC1-9C12B718AAC7}"/>
    <dgm:cxn modelId="{6BFEC15F-7BF1-41CE-894D-D6ED36172DF2}" type="presOf" srcId="{1B8FA010-F675-47DA-9791-B1820415C8DD}" destId="{454F64F0-59E8-469D-868B-AEFA76FF61DC}" srcOrd="0" destOrd="0" presId="urn:microsoft.com/office/officeart/2024/3/layout/verticalVisualTextBlock1"/>
    <dgm:cxn modelId="{5FCE4A60-5156-4A71-B65E-F03406D54ED2}" srcId="{01B75EEB-F420-430A-9C35-10D32134AB0E}" destId="{F50924B1-C627-44B3-B5FC-C2470FC3A7A7}" srcOrd="0" destOrd="0" parTransId="{CD224ACD-57C4-4886-96CC-32BE53511704}" sibTransId="{F881A1A2-9887-45D3-90E7-A5BC0C646AEC}"/>
    <dgm:cxn modelId="{4FB54665-1A16-4B56-ABA0-47282605A732}" type="presOf" srcId="{BC288E1F-1F30-4C0A-BFEA-DB690463C60A}" destId="{88B85A53-0220-49CB-A804-B1DEC10DC950}" srcOrd="0" destOrd="0" presId="urn:microsoft.com/office/officeart/2024/3/layout/verticalVisualTextBlock1"/>
    <dgm:cxn modelId="{E840A59A-0180-493A-B0F5-C958BB59EDDC}" type="presOf" srcId="{1EE62B5E-0553-4728-8C3C-A9CB8529125A}" destId="{977C8A10-6593-47C4-8A80-6E1ED129C286}" srcOrd="0" destOrd="0" presId="urn:microsoft.com/office/officeart/2024/3/layout/verticalVisualTextBlock1"/>
    <dgm:cxn modelId="{788331AB-FB3D-47E7-9913-B1D2254F3C68}" type="presOf" srcId="{2C73FDA3-EFBF-43D9-9232-03F603B7EA4B}" destId="{6E3E4FC6-01FB-4E9A-AFB1-AA57602C1C5C}" srcOrd="0" destOrd="0" presId="urn:microsoft.com/office/officeart/2024/3/layout/verticalVisualTextBlock1"/>
    <dgm:cxn modelId="{48CD37AB-3F0C-471B-9B2F-4AAC5184DC85}" srcId="{6AF37F2A-281A-43A8-9A9B-9F5B69B16C04}" destId="{09F86A56-6772-4417-BA57-B264DE5DF667}" srcOrd="2" destOrd="0" parTransId="{85382E54-D2DE-484F-BE5B-2D26DDE9E25D}" sibTransId="{530C2247-5C8E-4205-85DE-1B9D83419B33}"/>
    <dgm:cxn modelId="{B66010C5-2E34-4C7C-87D2-291E40AD2C43}" type="presOf" srcId="{01B75EEB-F420-430A-9C35-10D32134AB0E}" destId="{7609CFDB-7027-4C46-972A-68610B9C643F}" srcOrd="0" destOrd="0" presId="urn:microsoft.com/office/officeart/2024/3/layout/verticalVisualTextBlock1"/>
    <dgm:cxn modelId="{0BE4A8CE-1557-40D5-935B-9BFAF8AF9D5B}" srcId="{6AF37F2A-281A-43A8-9A9B-9F5B69B16C04}" destId="{80828FF8-2BB3-48A4-8CE0-460CC363757E}" srcOrd="0" destOrd="0" parTransId="{6D77EB72-1363-4B13-9DF6-721CABA105F2}" sibTransId="{2C73FDA3-EFBF-43D9-9232-03F603B7EA4B}"/>
    <dgm:cxn modelId="{1819D4CF-D340-4BBF-9F02-32F7ADC2AA8D}" type="presOf" srcId="{F50924B1-C627-44B3-B5FC-C2470FC3A7A7}" destId="{834D8BC6-6149-42CD-9AA9-E06B45B20EA8}" srcOrd="0" destOrd="0" presId="urn:microsoft.com/office/officeart/2024/3/layout/verticalVisualTextBlock1"/>
    <dgm:cxn modelId="{2DB11FDC-348A-4229-B15D-11BB7E6F5F28}" srcId="{09F86A56-6772-4417-BA57-B264DE5DF667}" destId="{1EE62B5E-0553-4728-8C3C-A9CB8529125A}" srcOrd="0" destOrd="0" parTransId="{D7183236-7833-4F99-A365-29E09075ED37}" sibTransId="{CD095912-8496-49A9-9896-AB1439A2E0A4}"/>
    <dgm:cxn modelId="{723087E2-CD48-4407-BDD4-9BC07CAAF1C8}" type="presOf" srcId="{6AF37F2A-281A-43A8-9A9B-9F5B69B16C04}" destId="{0C23BB1E-DB6D-4B6C-90AF-65232EE92810}" srcOrd="0" destOrd="0" presId="urn:microsoft.com/office/officeart/2024/3/layout/verticalVisualTextBlock1"/>
    <dgm:cxn modelId="{7C9DB2E2-E2F9-464B-920A-F81D9B0D8498}" srcId="{6AF37F2A-281A-43A8-9A9B-9F5B69B16C04}" destId="{01B75EEB-F420-430A-9C35-10D32134AB0E}" srcOrd="1" destOrd="0" parTransId="{03491636-423F-4577-A6E0-99650AFA0705}" sibTransId="{BC288E1F-1F30-4C0A-BFEA-DB690463C60A}"/>
    <dgm:cxn modelId="{5D3BF6EA-8E0D-4A2D-8021-5CA08B5431FE}" type="presOf" srcId="{80828FF8-2BB3-48A4-8CE0-460CC363757E}" destId="{9267BFE5-A7F1-4F16-BAFD-09E8446A15A8}" srcOrd="0" destOrd="0" presId="urn:microsoft.com/office/officeart/2024/3/layout/verticalVisualTextBlock1"/>
    <dgm:cxn modelId="{EB9E58F4-506C-492B-9DBB-D58DD30A3C6F}" type="presOf" srcId="{09F86A56-6772-4417-BA57-B264DE5DF667}" destId="{00D5F7AC-1DD5-4374-A666-B6EF4D2FB38D}" srcOrd="0" destOrd="0" presId="urn:microsoft.com/office/officeart/2024/3/layout/verticalVisualTextBlock1"/>
    <dgm:cxn modelId="{59605FE9-7ED4-4727-B86D-BA5D92A78111}" type="presParOf" srcId="{0C23BB1E-DB6D-4B6C-90AF-65232EE92810}" destId="{5CB742D9-DACF-4DD2-A223-EE3ADB989D2F}" srcOrd="0" destOrd="0" presId="urn:microsoft.com/office/officeart/2024/3/layout/verticalVisualTextBlock1"/>
    <dgm:cxn modelId="{6CE5981D-B79B-4ED2-A9D5-F99C11B48531}" type="presParOf" srcId="{5CB742D9-DACF-4DD2-A223-EE3ADB989D2F}" destId="{C3EF8711-DE4D-4EAE-ADA9-42768B3D62C0}" srcOrd="0" destOrd="0" presId="urn:microsoft.com/office/officeart/2024/3/layout/verticalVisualTextBlock1"/>
    <dgm:cxn modelId="{A5F9441C-37BF-43BB-A80F-3181690F9AE9}" type="presParOf" srcId="{5CB742D9-DACF-4DD2-A223-EE3ADB989D2F}" destId="{9267BFE5-A7F1-4F16-BAFD-09E8446A15A8}" srcOrd="1" destOrd="0" presId="urn:microsoft.com/office/officeart/2024/3/layout/verticalVisualTextBlock1"/>
    <dgm:cxn modelId="{2CFEF844-13DF-4807-A01B-1ADC010C15FC}" type="presParOf" srcId="{5CB742D9-DACF-4DD2-A223-EE3ADB989D2F}" destId="{454F64F0-59E8-469D-868B-AEFA76FF61DC}" srcOrd="2" destOrd="0" presId="urn:microsoft.com/office/officeart/2024/3/layout/verticalVisualTextBlock1"/>
    <dgm:cxn modelId="{163938E4-B45A-4D07-93B5-5CD86D4FE422}" type="presParOf" srcId="{0C23BB1E-DB6D-4B6C-90AF-65232EE92810}" destId="{6E3E4FC6-01FB-4E9A-AFB1-AA57602C1C5C}" srcOrd="1" destOrd="0" presId="urn:microsoft.com/office/officeart/2024/3/layout/verticalVisualTextBlock1"/>
    <dgm:cxn modelId="{954F7E19-43C1-4F9A-B63C-6451203726C7}" type="presParOf" srcId="{0C23BB1E-DB6D-4B6C-90AF-65232EE92810}" destId="{B081EE7A-6AE4-4AD3-860C-E00FB3FCAABF}" srcOrd="2" destOrd="0" presId="urn:microsoft.com/office/officeart/2024/3/layout/verticalVisualTextBlock1"/>
    <dgm:cxn modelId="{80C0A5F7-584E-4CD0-9800-1A88AFD4DDAD}" type="presParOf" srcId="{B081EE7A-6AE4-4AD3-860C-E00FB3FCAABF}" destId="{38D12CC9-30B0-421E-844B-148CD633873A}" srcOrd="0" destOrd="0" presId="urn:microsoft.com/office/officeart/2024/3/layout/verticalVisualTextBlock1"/>
    <dgm:cxn modelId="{CF36D9A2-0354-4D64-9D34-38F5083595C4}" type="presParOf" srcId="{B081EE7A-6AE4-4AD3-860C-E00FB3FCAABF}" destId="{7609CFDB-7027-4C46-972A-68610B9C643F}" srcOrd="1" destOrd="0" presId="urn:microsoft.com/office/officeart/2024/3/layout/verticalVisualTextBlock1"/>
    <dgm:cxn modelId="{7AED7268-A5D4-456E-AB67-C9E25ADD7F51}" type="presParOf" srcId="{B081EE7A-6AE4-4AD3-860C-E00FB3FCAABF}" destId="{834D8BC6-6149-42CD-9AA9-E06B45B20EA8}" srcOrd="2" destOrd="0" presId="urn:microsoft.com/office/officeart/2024/3/layout/verticalVisualTextBlock1"/>
    <dgm:cxn modelId="{7331312C-58A2-4849-BEA0-539B9CCD5111}" type="presParOf" srcId="{0C23BB1E-DB6D-4B6C-90AF-65232EE92810}" destId="{88B85A53-0220-49CB-A804-B1DEC10DC950}" srcOrd="3" destOrd="0" presId="urn:microsoft.com/office/officeart/2024/3/layout/verticalVisualTextBlock1"/>
    <dgm:cxn modelId="{E79C2841-125A-4B9C-B705-E65CAE09B47B}" type="presParOf" srcId="{0C23BB1E-DB6D-4B6C-90AF-65232EE92810}" destId="{1F634CB7-B47A-431D-BF83-44F10F203F25}" srcOrd="4" destOrd="0" presId="urn:microsoft.com/office/officeart/2024/3/layout/verticalVisualTextBlock1"/>
    <dgm:cxn modelId="{9B591723-965B-4621-905D-A92FD1226E13}" type="presParOf" srcId="{1F634CB7-B47A-431D-BF83-44F10F203F25}" destId="{90C2DB17-FE24-4D64-832F-F00D8DA2B0D1}" srcOrd="0" destOrd="0" presId="urn:microsoft.com/office/officeart/2024/3/layout/verticalVisualTextBlock1"/>
    <dgm:cxn modelId="{5CD6D693-61CB-48B5-BF17-CB70BA645F6E}" type="presParOf" srcId="{1F634CB7-B47A-431D-BF83-44F10F203F25}" destId="{00D5F7AC-1DD5-4374-A666-B6EF4D2FB38D}" srcOrd="1" destOrd="0" presId="urn:microsoft.com/office/officeart/2024/3/layout/verticalVisualTextBlock1"/>
    <dgm:cxn modelId="{193B00CB-13C0-4AF5-AE62-1A7A1FF5623B}" type="presParOf" srcId="{1F634CB7-B47A-431D-BF83-44F10F203F25}" destId="{977C8A10-6593-47C4-8A80-6E1ED129C286}" srcOrd="2" destOrd="0" presId="urn:microsoft.com/office/officeart/2024/3/layout/verticalVisualTextBlock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5BC8818-29C4-4C41-A68F-A7C1F35937DD}" type="doc">
      <dgm:prSet loTypeId="urn:microsoft.com/office/officeart/2024/3/layout/verticalVisualTextBlock1" loCatId="Picture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zh-TW" altLang="en-US"/>
        </a:p>
      </dgm:t>
    </dgm:pt>
    <dgm:pt modelId="{458DF655-DA85-440B-89BB-05B43552666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TW"/>
            <a:t>彈性組織結構</a:t>
          </a:r>
        </a:p>
      </dgm:t>
    </dgm:pt>
    <dgm:pt modelId="{80584216-29FC-46C3-9C2E-7D5B8116AFEE}" type="parTrans" cxnId="{6A2D586C-488E-4F65-BF9C-02F8B02B3CE4}">
      <dgm:prSet/>
      <dgm:spPr/>
      <dgm:t>
        <a:bodyPr/>
        <a:lstStyle/>
        <a:p>
          <a:endParaRPr lang="zh-TW" altLang="en-US"/>
        </a:p>
      </dgm:t>
    </dgm:pt>
    <dgm:pt modelId="{561758E1-57F2-4D00-982B-B49A137B0423}" type="sibTrans" cxnId="{6A2D586C-488E-4F65-BF9C-02F8B02B3CE4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zh-TW" altLang="en-US"/>
        </a:p>
      </dgm:t>
    </dgm:pt>
    <dgm:pt modelId="{66C600B4-5B3D-4ADB-9449-0C2F1513642F}">
      <dgm:prSet/>
      <dgm:spPr/>
      <dgm:t>
        <a:bodyPr/>
        <a:lstStyle/>
        <a:p>
          <a:pPr>
            <a:lnSpc>
              <a:spcPct val="100000"/>
            </a:lnSpc>
          </a:pPr>
          <a:r>
            <a:rPr lang="zh-TW"/>
            <a:t>敏捷轉型要求組織結構具有彈性，角色能根據業務需求靈活調整，提升應變能力。</a:t>
          </a:r>
        </a:p>
      </dgm:t>
    </dgm:pt>
    <dgm:pt modelId="{713B73C2-B37B-4261-BBE6-BFB789D1326A}" type="parTrans" cxnId="{5A66E180-FE25-41F8-97AC-FFD182787665}">
      <dgm:prSet/>
      <dgm:spPr/>
      <dgm:t>
        <a:bodyPr/>
        <a:lstStyle/>
        <a:p>
          <a:endParaRPr lang="zh-TW" altLang="en-US"/>
        </a:p>
      </dgm:t>
    </dgm:pt>
    <dgm:pt modelId="{D4C76AC5-822B-4DEF-9A29-6E0476BAD854}" type="sibTrans" cxnId="{5A66E180-FE25-41F8-97AC-FFD182787665}">
      <dgm:prSet/>
      <dgm:spPr/>
      <dgm:t>
        <a:bodyPr/>
        <a:lstStyle/>
        <a:p>
          <a:endParaRPr lang="zh-TW" altLang="en-US"/>
        </a:p>
      </dgm:t>
    </dgm:pt>
    <dgm:pt modelId="{E4FE4E1F-8A38-42F3-9AFE-A1BC25F2874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TW"/>
            <a:t>流程持續優化</a:t>
          </a:r>
        </a:p>
      </dgm:t>
    </dgm:pt>
    <dgm:pt modelId="{1681CFCC-31E9-4F37-9624-95266A146437}" type="parTrans" cxnId="{ED1C63EB-BC4B-45E6-BCEB-B91A59A6C632}">
      <dgm:prSet/>
      <dgm:spPr/>
      <dgm:t>
        <a:bodyPr/>
        <a:lstStyle/>
        <a:p>
          <a:endParaRPr lang="zh-TW" altLang="en-US"/>
        </a:p>
      </dgm:t>
    </dgm:pt>
    <dgm:pt modelId="{427964F1-28F2-45ED-88DC-FFB7215B34B4}" type="sibTrans" cxnId="{ED1C63EB-BC4B-45E6-BCEB-B91A59A6C632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zh-TW" altLang="en-US"/>
        </a:p>
      </dgm:t>
    </dgm:pt>
    <dgm:pt modelId="{081853D1-6CD6-485A-81DD-D4A3683D14CE}">
      <dgm:prSet/>
      <dgm:spPr/>
      <dgm:t>
        <a:bodyPr/>
        <a:lstStyle/>
        <a:p>
          <a:pPr>
            <a:lnSpc>
              <a:spcPct val="100000"/>
            </a:lnSpc>
          </a:pPr>
          <a:r>
            <a:rPr lang="zh-TW"/>
            <a:t>工作流程必須不斷迭代與優化，以因應快速變化的市場與需求。</a:t>
          </a:r>
        </a:p>
      </dgm:t>
    </dgm:pt>
    <dgm:pt modelId="{C27D9D67-7E0F-472B-9199-0CB7E70DFA83}" type="parTrans" cxnId="{74329AEC-DB41-4180-9CB1-74CED63B525D}">
      <dgm:prSet/>
      <dgm:spPr/>
      <dgm:t>
        <a:bodyPr/>
        <a:lstStyle/>
        <a:p>
          <a:endParaRPr lang="zh-TW" altLang="en-US"/>
        </a:p>
      </dgm:t>
    </dgm:pt>
    <dgm:pt modelId="{E5230EAC-B2F0-4210-927B-078C1D136D27}" type="sibTrans" cxnId="{74329AEC-DB41-4180-9CB1-74CED63B525D}">
      <dgm:prSet/>
      <dgm:spPr/>
      <dgm:t>
        <a:bodyPr/>
        <a:lstStyle/>
        <a:p>
          <a:endParaRPr lang="zh-TW" altLang="en-US"/>
        </a:p>
      </dgm:t>
    </dgm:pt>
    <dgm:pt modelId="{88A8A9BF-BFFF-49DD-B21F-8AFF294DAA1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TW"/>
            <a:t>試點與里程碑管理</a:t>
          </a:r>
        </a:p>
      </dgm:t>
    </dgm:pt>
    <dgm:pt modelId="{5C55F4EE-D374-467B-BE99-8982E11A465A}" type="parTrans" cxnId="{4CF9172D-254D-40D9-9B55-537C9CE1ECEB}">
      <dgm:prSet/>
      <dgm:spPr/>
      <dgm:t>
        <a:bodyPr/>
        <a:lstStyle/>
        <a:p>
          <a:endParaRPr lang="zh-TW" altLang="en-US"/>
        </a:p>
      </dgm:t>
    </dgm:pt>
    <dgm:pt modelId="{257710D4-0942-42CC-AB02-6F0A5CA14D49}" type="sibTrans" cxnId="{4CF9172D-254D-40D9-9B55-537C9CE1ECEB}">
      <dgm:prSet/>
      <dgm:spPr/>
      <dgm:t>
        <a:bodyPr/>
        <a:lstStyle/>
        <a:p>
          <a:endParaRPr lang="zh-TW" altLang="en-US"/>
        </a:p>
      </dgm:t>
    </dgm:pt>
    <dgm:pt modelId="{9292C9EC-BC15-44FD-BBE0-A2281173C488}">
      <dgm:prSet/>
      <dgm:spPr/>
      <dgm:t>
        <a:bodyPr/>
        <a:lstStyle/>
        <a:p>
          <a:pPr>
            <a:lnSpc>
              <a:spcPct val="100000"/>
            </a:lnSpc>
          </a:pPr>
          <a:r>
            <a:rPr lang="zh-TW"/>
            <a:t>從小規模試點開始，設定清晰門檻與里程碑，有效掌握推動進度，確保轉型順利落地。</a:t>
          </a:r>
        </a:p>
      </dgm:t>
    </dgm:pt>
    <dgm:pt modelId="{B7E886E6-1DE7-40E2-A08D-E4D4F765A189}" type="parTrans" cxnId="{37B0CDD6-6A27-48BD-85B8-54C01D741C1C}">
      <dgm:prSet/>
      <dgm:spPr/>
      <dgm:t>
        <a:bodyPr/>
        <a:lstStyle/>
        <a:p>
          <a:endParaRPr lang="zh-TW" altLang="en-US"/>
        </a:p>
      </dgm:t>
    </dgm:pt>
    <dgm:pt modelId="{D768968B-7F0C-4A92-A88B-CEBDD6206EA3}" type="sibTrans" cxnId="{37B0CDD6-6A27-48BD-85B8-54C01D741C1C}">
      <dgm:prSet/>
      <dgm:spPr/>
      <dgm:t>
        <a:bodyPr/>
        <a:lstStyle/>
        <a:p>
          <a:endParaRPr lang="zh-TW" altLang="en-US"/>
        </a:p>
      </dgm:t>
    </dgm:pt>
    <dgm:pt modelId="{52562F60-4EA0-47C3-AFE0-859E1BA27947}" type="pres">
      <dgm:prSet presAssocID="{45BC8818-29C4-4C41-A68F-A7C1F35937DD}" presName="Root" presStyleCnt="0">
        <dgm:presLayoutVars>
          <dgm:dir/>
          <dgm:resizeHandles val="exact"/>
        </dgm:presLayoutVars>
      </dgm:prSet>
      <dgm:spPr/>
    </dgm:pt>
    <dgm:pt modelId="{2A4946C3-6157-443E-81B5-44967C351890}" type="pres">
      <dgm:prSet presAssocID="{458DF655-DA85-440B-89BB-05B43552666F}" presName="Composite" presStyleCnt="0"/>
      <dgm:spPr/>
    </dgm:pt>
    <dgm:pt modelId="{757590E0-82BB-4547-B83A-074C8382F36E}" type="pres">
      <dgm:prSet presAssocID="{458DF655-DA85-440B-89BB-05B43552666F}" presName="Picture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54" r="29894" b="-4"/>
          <a:stretch>
            <a:fillRect l="-45000" r="-45000"/>
          </a:stretch>
        </a:blipFill>
      </dgm:spPr>
      <dgm:extLst>
        <a:ext uri="{E40237B7-FDA0-4F09-8148-C483321AD2D9}">
          <dgm14:cNvPr xmlns:dgm14="http://schemas.microsoft.com/office/drawing/2010/diagram" id="0" name="" descr="一群設計師在創意辦公室工作的全長鏡頭"/>
        </a:ext>
      </dgm:extLst>
    </dgm:pt>
    <dgm:pt modelId="{0F06F73A-E9A5-4701-BF09-229712E820B5}" type="pres">
      <dgm:prSet presAssocID="{458DF655-DA85-440B-89BB-05B43552666F}" presName="Subtitle" presStyleLbl="revTx" presStyleIdx="0" presStyleCnt="6">
        <dgm:presLayoutVars>
          <dgm:chMax val="0"/>
          <dgm:bulletEnabled/>
        </dgm:presLayoutVars>
      </dgm:prSet>
      <dgm:spPr/>
    </dgm:pt>
    <dgm:pt modelId="{1298446B-C8BC-45B7-8470-0F3F7D769CD3}" type="pres">
      <dgm:prSet presAssocID="{458DF655-DA85-440B-89BB-05B43552666F}" presName="Description" presStyleLbl="revTx" presStyleIdx="1" presStyleCnt="6">
        <dgm:presLayoutVars>
          <dgm:bulletEnabled/>
        </dgm:presLayoutVars>
      </dgm:prSet>
      <dgm:spPr/>
    </dgm:pt>
    <dgm:pt modelId="{670B0973-FAC0-4B6E-AC73-B2C01CAEA8BD}" type="pres">
      <dgm:prSet presAssocID="{561758E1-57F2-4D00-982B-B49A137B0423}" presName="sibTrans" presStyleLbl="sibTrans2D1" presStyleIdx="0" presStyleCnt="0"/>
      <dgm:spPr/>
    </dgm:pt>
    <dgm:pt modelId="{0D9E026E-B236-467D-AB34-E39B96AE80B6}" type="pres">
      <dgm:prSet presAssocID="{E4FE4E1F-8A38-42F3-9AFE-A1BC25F2874D}" presName="Composite" presStyleCnt="0"/>
      <dgm:spPr/>
    </dgm:pt>
    <dgm:pt modelId="{DF1370B9-BDDC-4300-8F93-A94B29B447A6}" type="pres">
      <dgm:prSet presAssocID="{E4FE4E1F-8A38-42F3-9AFE-A1BC25F2874D}" presName="Picture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70" r="18926" b="-6"/>
          <a:stretch>
            <a:fillRect l="-26000" r="-26000"/>
          </a:stretch>
        </a:blipFill>
      </dgm:spPr>
      <dgm:extLst>
        <a:ext uri="{E40237B7-FDA0-4F09-8148-C483321AD2D9}">
          <dgm14:cNvPr xmlns:dgm14="http://schemas.microsoft.com/office/drawing/2010/diagram" id="0" name="" descr="女性繪畫流程圖"/>
        </a:ext>
      </dgm:extLst>
    </dgm:pt>
    <dgm:pt modelId="{CB7EE858-4D85-4225-A2D6-BC15E4DBDBBE}" type="pres">
      <dgm:prSet presAssocID="{E4FE4E1F-8A38-42F3-9AFE-A1BC25F2874D}" presName="Subtitle" presStyleLbl="revTx" presStyleIdx="2" presStyleCnt="6">
        <dgm:presLayoutVars>
          <dgm:chMax val="0"/>
          <dgm:bulletEnabled/>
        </dgm:presLayoutVars>
      </dgm:prSet>
      <dgm:spPr/>
    </dgm:pt>
    <dgm:pt modelId="{4DCB9586-B53E-41C2-8754-AAC87FD2B911}" type="pres">
      <dgm:prSet presAssocID="{E4FE4E1F-8A38-42F3-9AFE-A1BC25F2874D}" presName="Description" presStyleLbl="revTx" presStyleIdx="3" presStyleCnt="6">
        <dgm:presLayoutVars>
          <dgm:bulletEnabled/>
        </dgm:presLayoutVars>
      </dgm:prSet>
      <dgm:spPr/>
    </dgm:pt>
    <dgm:pt modelId="{A50598E2-5D81-42CA-8DE0-099098392A43}" type="pres">
      <dgm:prSet presAssocID="{427964F1-28F2-45ED-88DC-FFB7215B34B4}" presName="sibTrans" presStyleLbl="sibTrans2D1" presStyleIdx="0" presStyleCnt="0"/>
      <dgm:spPr/>
    </dgm:pt>
    <dgm:pt modelId="{5DC56E87-7D7C-404D-B385-DD3CAA321DB5}" type="pres">
      <dgm:prSet presAssocID="{88A8A9BF-BFFF-49DD-B21F-8AFF294DAA15}" presName="Composite" presStyleCnt="0"/>
      <dgm:spPr/>
    </dgm:pt>
    <dgm:pt modelId="{23D40F9C-6F4E-4EC3-99DF-A5BC8DF1C3C5}" type="pres">
      <dgm:prSet presAssocID="{88A8A9BF-BFFF-49DD-B21F-8AFF294DAA15}" presName="Picture" presStyleLbl="nod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2" r="13847"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彩色別針用線線串連"/>
        </a:ext>
      </dgm:extLst>
    </dgm:pt>
    <dgm:pt modelId="{2708BADB-BC34-4BDE-9566-B56DC47F6DAF}" type="pres">
      <dgm:prSet presAssocID="{88A8A9BF-BFFF-49DD-B21F-8AFF294DAA15}" presName="Subtitle" presStyleLbl="revTx" presStyleIdx="4" presStyleCnt="6">
        <dgm:presLayoutVars>
          <dgm:chMax val="0"/>
          <dgm:bulletEnabled/>
        </dgm:presLayoutVars>
      </dgm:prSet>
      <dgm:spPr/>
    </dgm:pt>
    <dgm:pt modelId="{56AF3EBC-1AA6-4777-B31C-10DEC215BF5D}" type="pres">
      <dgm:prSet presAssocID="{88A8A9BF-BFFF-49DD-B21F-8AFF294DAA15}" presName="Description" presStyleLbl="revTx" presStyleIdx="5" presStyleCnt="6">
        <dgm:presLayoutVars>
          <dgm:bulletEnabled/>
        </dgm:presLayoutVars>
      </dgm:prSet>
      <dgm:spPr/>
    </dgm:pt>
  </dgm:ptLst>
  <dgm:cxnLst>
    <dgm:cxn modelId="{433EB717-7301-4483-83ED-C1AC8EF9EE55}" type="presOf" srcId="{458DF655-DA85-440B-89BB-05B43552666F}" destId="{0F06F73A-E9A5-4701-BF09-229712E820B5}" srcOrd="0" destOrd="0" presId="urn:microsoft.com/office/officeart/2024/3/layout/verticalVisualTextBlock1"/>
    <dgm:cxn modelId="{F2C13D1A-D34E-4AB1-AB52-C7AC61BED40B}" type="presOf" srcId="{427964F1-28F2-45ED-88DC-FFB7215B34B4}" destId="{A50598E2-5D81-42CA-8DE0-099098392A43}" srcOrd="0" destOrd="0" presId="urn:microsoft.com/office/officeart/2024/3/layout/verticalVisualTextBlock1"/>
    <dgm:cxn modelId="{4CF9172D-254D-40D9-9B55-537C9CE1ECEB}" srcId="{45BC8818-29C4-4C41-A68F-A7C1F35937DD}" destId="{88A8A9BF-BFFF-49DD-B21F-8AFF294DAA15}" srcOrd="2" destOrd="0" parTransId="{5C55F4EE-D374-467B-BE99-8982E11A465A}" sibTransId="{257710D4-0942-42CC-AB02-6F0A5CA14D49}"/>
    <dgm:cxn modelId="{6A2D586C-488E-4F65-BF9C-02F8B02B3CE4}" srcId="{45BC8818-29C4-4C41-A68F-A7C1F35937DD}" destId="{458DF655-DA85-440B-89BB-05B43552666F}" srcOrd="0" destOrd="0" parTransId="{80584216-29FC-46C3-9C2E-7D5B8116AFEE}" sibTransId="{561758E1-57F2-4D00-982B-B49A137B0423}"/>
    <dgm:cxn modelId="{CC95DD6F-FFEA-45BB-8B30-074AA86EAFF5}" type="presOf" srcId="{45BC8818-29C4-4C41-A68F-A7C1F35937DD}" destId="{52562F60-4EA0-47C3-AFE0-859E1BA27947}" srcOrd="0" destOrd="0" presId="urn:microsoft.com/office/officeart/2024/3/layout/verticalVisualTextBlock1"/>
    <dgm:cxn modelId="{5A66E180-FE25-41F8-97AC-FFD182787665}" srcId="{458DF655-DA85-440B-89BB-05B43552666F}" destId="{66C600B4-5B3D-4ADB-9449-0C2F1513642F}" srcOrd="0" destOrd="0" parTransId="{713B73C2-B37B-4261-BBE6-BFB789D1326A}" sibTransId="{D4C76AC5-822B-4DEF-9A29-6E0476BAD854}"/>
    <dgm:cxn modelId="{78C92B91-13ED-48A9-A4CE-18243CEE6AB8}" type="presOf" srcId="{561758E1-57F2-4D00-982B-B49A137B0423}" destId="{670B0973-FAC0-4B6E-AC73-B2C01CAEA8BD}" srcOrd="0" destOrd="0" presId="urn:microsoft.com/office/officeart/2024/3/layout/verticalVisualTextBlock1"/>
    <dgm:cxn modelId="{6A3DED9F-5C94-4840-B5FF-072870BA24E5}" type="presOf" srcId="{88A8A9BF-BFFF-49DD-B21F-8AFF294DAA15}" destId="{2708BADB-BC34-4BDE-9566-B56DC47F6DAF}" srcOrd="0" destOrd="0" presId="urn:microsoft.com/office/officeart/2024/3/layout/verticalVisualTextBlock1"/>
    <dgm:cxn modelId="{EB624DCB-5472-49DD-9370-D9B898B95DF8}" type="presOf" srcId="{9292C9EC-BC15-44FD-BBE0-A2281173C488}" destId="{56AF3EBC-1AA6-4777-B31C-10DEC215BF5D}" srcOrd="0" destOrd="0" presId="urn:microsoft.com/office/officeart/2024/3/layout/verticalVisualTextBlock1"/>
    <dgm:cxn modelId="{37B0CDD6-6A27-48BD-85B8-54C01D741C1C}" srcId="{88A8A9BF-BFFF-49DD-B21F-8AFF294DAA15}" destId="{9292C9EC-BC15-44FD-BBE0-A2281173C488}" srcOrd="0" destOrd="0" parTransId="{B7E886E6-1DE7-40E2-A08D-E4D4F765A189}" sibTransId="{D768968B-7F0C-4A92-A88B-CEBDD6206EA3}"/>
    <dgm:cxn modelId="{964008DB-D174-4189-BD4D-AC74BFBE341F}" type="presOf" srcId="{081853D1-6CD6-485A-81DD-D4A3683D14CE}" destId="{4DCB9586-B53E-41C2-8754-AAC87FD2B911}" srcOrd="0" destOrd="0" presId="urn:microsoft.com/office/officeart/2024/3/layout/verticalVisualTextBlock1"/>
    <dgm:cxn modelId="{517BFCE7-846A-4B25-83EF-067B3BC1D937}" type="presOf" srcId="{E4FE4E1F-8A38-42F3-9AFE-A1BC25F2874D}" destId="{CB7EE858-4D85-4225-A2D6-BC15E4DBDBBE}" srcOrd="0" destOrd="0" presId="urn:microsoft.com/office/officeart/2024/3/layout/verticalVisualTextBlock1"/>
    <dgm:cxn modelId="{ED1C63EB-BC4B-45E6-BCEB-B91A59A6C632}" srcId="{45BC8818-29C4-4C41-A68F-A7C1F35937DD}" destId="{E4FE4E1F-8A38-42F3-9AFE-A1BC25F2874D}" srcOrd="1" destOrd="0" parTransId="{1681CFCC-31E9-4F37-9624-95266A146437}" sibTransId="{427964F1-28F2-45ED-88DC-FFB7215B34B4}"/>
    <dgm:cxn modelId="{74329AEC-DB41-4180-9CB1-74CED63B525D}" srcId="{E4FE4E1F-8A38-42F3-9AFE-A1BC25F2874D}" destId="{081853D1-6CD6-485A-81DD-D4A3683D14CE}" srcOrd="0" destOrd="0" parTransId="{C27D9D67-7E0F-472B-9199-0CB7E70DFA83}" sibTransId="{E5230EAC-B2F0-4210-927B-078C1D136D27}"/>
    <dgm:cxn modelId="{A869C9F4-3FBF-48A9-8999-B80818D061EE}" type="presOf" srcId="{66C600B4-5B3D-4ADB-9449-0C2F1513642F}" destId="{1298446B-C8BC-45B7-8470-0F3F7D769CD3}" srcOrd="0" destOrd="0" presId="urn:microsoft.com/office/officeart/2024/3/layout/verticalVisualTextBlock1"/>
    <dgm:cxn modelId="{53815154-AF00-4D17-949F-8D5D02366808}" type="presParOf" srcId="{52562F60-4EA0-47C3-AFE0-859E1BA27947}" destId="{2A4946C3-6157-443E-81B5-44967C351890}" srcOrd="0" destOrd="0" presId="urn:microsoft.com/office/officeart/2024/3/layout/verticalVisualTextBlock1"/>
    <dgm:cxn modelId="{0F74129D-7642-4E1F-B0EE-B6CF15D25213}" type="presParOf" srcId="{2A4946C3-6157-443E-81B5-44967C351890}" destId="{757590E0-82BB-4547-B83A-074C8382F36E}" srcOrd="0" destOrd="0" presId="urn:microsoft.com/office/officeart/2024/3/layout/verticalVisualTextBlock1"/>
    <dgm:cxn modelId="{E0FAC254-9C17-41FD-9818-F30F000F57BD}" type="presParOf" srcId="{2A4946C3-6157-443E-81B5-44967C351890}" destId="{0F06F73A-E9A5-4701-BF09-229712E820B5}" srcOrd="1" destOrd="0" presId="urn:microsoft.com/office/officeart/2024/3/layout/verticalVisualTextBlock1"/>
    <dgm:cxn modelId="{B947849B-BC81-4F1D-95A9-BB6FD3E7A4AE}" type="presParOf" srcId="{2A4946C3-6157-443E-81B5-44967C351890}" destId="{1298446B-C8BC-45B7-8470-0F3F7D769CD3}" srcOrd="2" destOrd="0" presId="urn:microsoft.com/office/officeart/2024/3/layout/verticalVisualTextBlock1"/>
    <dgm:cxn modelId="{F176247F-DD8E-4607-A361-B4223BE5E084}" type="presParOf" srcId="{52562F60-4EA0-47C3-AFE0-859E1BA27947}" destId="{670B0973-FAC0-4B6E-AC73-B2C01CAEA8BD}" srcOrd="1" destOrd="0" presId="urn:microsoft.com/office/officeart/2024/3/layout/verticalVisualTextBlock1"/>
    <dgm:cxn modelId="{0DF6A291-8546-414E-AA6A-EECF35EFE02B}" type="presParOf" srcId="{52562F60-4EA0-47C3-AFE0-859E1BA27947}" destId="{0D9E026E-B236-467D-AB34-E39B96AE80B6}" srcOrd="2" destOrd="0" presId="urn:microsoft.com/office/officeart/2024/3/layout/verticalVisualTextBlock1"/>
    <dgm:cxn modelId="{D2D1034D-7BD4-4456-91C5-1BC3486E4B05}" type="presParOf" srcId="{0D9E026E-B236-467D-AB34-E39B96AE80B6}" destId="{DF1370B9-BDDC-4300-8F93-A94B29B447A6}" srcOrd="0" destOrd="0" presId="urn:microsoft.com/office/officeart/2024/3/layout/verticalVisualTextBlock1"/>
    <dgm:cxn modelId="{7FFAAC52-064A-46F5-BAE7-E342EE326D02}" type="presParOf" srcId="{0D9E026E-B236-467D-AB34-E39B96AE80B6}" destId="{CB7EE858-4D85-4225-A2D6-BC15E4DBDBBE}" srcOrd="1" destOrd="0" presId="urn:microsoft.com/office/officeart/2024/3/layout/verticalVisualTextBlock1"/>
    <dgm:cxn modelId="{B9174141-E386-467C-9873-FB5B7253CAA7}" type="presParOf" srcId="{0D9E026E-B236-467D-AB34-E39B96AE80B6}" destId="{4DCB9586-B53E-41C2-8754-AAC87FD2B911}" srcOrd="2" destOrd="0" presId="urn:microsoft.com/office/officeart/2024/3/layout/verticalVisualTextBlock1"/>
    <dgm:cxn modelId="{C13600FE-B17E-47C2-AB10-CD340E37742D}" type="presParOf" srcId="{52562F60-4EA0-47C3-AFE0-859E1BA27947}" destId="{A50598E2-5D81-42CA-8DE0-099098392A43}" srcOrd="3" destOrd="0" presId="urn:microsoft.com/office/officeart/2024/3/layout/verticalVisualTextBlock1"/>
    <dgm:cxn modelId="{699D4EC1-19E8-467C-BC6E-1E6A22BE8E16}" type="presParOf" srcId="{52562F60-4EA0-47C3-AFE0-859E1BA27947}" destId="{5DC56E87-7D7C-404D-B385-DD3CAA321DB5}" srcOrd="4" destOrd="0" presId="urn:microsoft.com/office/officeart/2024/3/layout/verticalVisualTextBlock1"/>
    <dgm:cxn modelId="{80654013-F6A5-4C32-BBAE-870229D282D8}" type="presParOf" srcId="{5DC56E87-7D7C-404D-B385-DD3CAA321DB5}" destId="{23D40F9C-6F4E-4EC3-99DF-A5BC8DF1C3C5}" srcOrd="0" destOrd="0" presId="urn:microsoft.com/office/officeart/2024/3/layout/verticalVisualTextBlock1"/>
    <dgm:cxn modelId="{DFBB5C65-B25E-479B-89C5-5AC8B6B787F9}" type="presParOf" srcId="{5DC56E87-7D7C-404D-B385-DD3CAA321DB5}" destId="{2708BADB-BC34-4BDE-9566-B56DC47F6DAF}" srcOrd="1" destOrd="0" presId="urn:microsoft.com/office/officeart/2024/3/layout/verticalVisualTextBlock1"/>
    <dgm:cxn modelId="{048D2F86-B1FB-47E7-B52E-730CCA6468EC}" type="presParOf" srcId="{5DC56E87-7D7C-404D-B385-DD3CAA321DB5}" destId="{56AF3EBC-1AA6-4777-B31C-10DEC215BF5D}" srcOrd="2" destOrd="0" presId="urn:microsoft.com/office/officeart/2024/3/layout/verticalVisualTextBlock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2026DC-238E-4795-B5D8-C62410FF5707}" type="doc">
      <dgm:prSet loTypeId="urn:microsoft.com/office/officeart/2024/3/layout/verticalVisualTextBlock1" loCatId="Picture" qsTypeId="urn:microsoft.com/office/officeart/2005/8/quickstyle/simple4" qsCatId="simple" csTypeId="urn:microsoft.com/office/officeart/2005/8/colors/accent0_1" csCatId="mainScheme" phldr="1"/>
      <dgm:spPr/>
      <dgm:t>
        <a:bodyPr/>
        <a:lstStyle/>
        <a:p>
          <a:endParaRPr lang="zh-TW" altLang="en-US"/>
        </a:p>
      </dgm:t>
    </dgm:pt>
    <dgm:pt modelId="{EBBA4AAC-D222-4E06-A868-0DFC19B9012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TW"/>
            <a:t>重視利害關係人回饋</a:t>
          </a:r>
        </a:p>
      </dgm:t>
    </dgm:pt>
    <dgm:pt modelId="{C21E3018-FEAB-400D-9F76-59242FA9A902}" type="parTrans" cxnId="{627B0B38-C3C6-4C6F-87BF-0B222FC8EA02}">
      <dgm:prSet/>
      <dgm:spPr/>
      <dgm:t>
        <a:bodyPr/>
        <a:lstStyle/>
        <a:p>
          <a:endParaRPr lang="zh-TW" altLang="en-US"/>
        </a:p>
      </dgm:t>
    </dgm:pt>
    <dgm:pt modelId="{A696E9BF-4E88-4206-8EED-8D3FA0FC9F44}" type="sibTrans" cxnId="{627B0B38-C3C6-4C6F-87BF-0B222FC8EA02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zh-TW" altLang="en-US"/>
        </a:p>
      </dgm:t>
    </dgm:pt>
    <dgm:pt modelId="{5AC567E8-5FBD-4C27-B8A6-65E2DDD853AD}">
      <dgm:prSet/>
      <dgm:spPr/>
      <dgm:t>
        <a:bodyPr/>
        <a:lstStyle/>
        <a:p>
          <a:pPr>
            <a:lnSpc>
              <a:spcPct val="100000"/>
            </a:lnSpc>
          </a:pPr>
          <a:r>
            <a:rPr lang="zh-TW"/>
            <a:t>組織主動收集並正視顧問、研究者及董事會等外部利害關係人的回饋，有助於調整策略方向。</a:t>
          </a:r>
        </a:p>
      </dgm:t>
    </dgm:pt>
    <dgm:pt modelId="{142AE760-664B-408B-9C8E-9BBA078FC573}" type="parTrans" cxnId="{452E7527-CF60-4D79-94F7-B28EE9330FF9}">
      <dgm:prSet/>
      <dgm:spPr/>
      <dgm:t>
        <a:bodyPr/>
        <a:lstStyle/>
        <a:p>
          <a:endParaRPr lang="zh-TW" altLang="en-US"/>
        </a:p>
      </dgm:t>
    </dgm:pt>
    <dgm:pt modelId="{80B8CCDC-D29C-49F0-8678-C12384594AE7}" type="sibTrans" cxnId="{452E7527-CF60-4D79-94F7-B28EE9330FF9}">
      <dgm:prSet/>
      <dgm:spPr/>
      <dgm:t>
        <a:bodyPr/>
        <a:lstStyle/>
        <a:p>
          <a:endParaRPr lang="zh-TW" altLang="en-US"/>
        </a:p>
      </dgm:t>
    </dgm:pt>
    <dgm:pt modelId="{6B5E8A36-1A6C-4904-8472-D8A5266D454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TW"/>
            <a:t>建立持續傾聽機制</a:t>
          </a:r>
        </a:p>
      </dgm:t>
    </dgm:pt>
    <dgm:pt modelId="{FBB27A7A-D028-4002-A115-F230F7754E0A}" type="parTrans" cxnId="{A101D99A-8879-4EE3-8386-F452FCB4C22C}">
      <dgm:prSet/>
      <dgm:spPr/>
      <dgm:t>
        <a:bodyPr/>
        <a:lstStyle/>
        <a:p>
          <a:endParaRPr lang="zh-TW" altLang="en-US"/>
        </a:p>
      </dgm:t>
    </dgm:pt>
    <dgm:pt modelId="{B9AE801C-F3E7-44AF-A8CD-4DAE2A254DF1}" type="sibTrans" cxnId="{A101D99A-8879-4EE3-8386-F452FCB4C22C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zh-TW" altLang="en-US"/>
        </a:p>
      </dgm:t>
    </dgm:pt>
    <dgm:pt modelId="{F52999DC-CA97-40CC-87E1-F94A4797194E}">
      <dgm:prSet/>
      <dgm:spPr/>
      <dgm:t>
        <a:bodyPr/>
        <a:lstStyle/>
        <a:p>
          <a:pPr>
            <a:lnSpc>
              <a:spcPct val="100000"/>
            </a:lnSpc>
          </a:pPr>
          <a:r>
            <a:rPr lang="zh-TW"/>
            <a:t>透過外部諮詢與開放式研討，組織能建立長期的傾聽與交流機制，促進資訊流通。</a:t>
          </a:r>
        </a:p>
      </dgm:t>
    </dgm:pt>
    <dgm:pt modelId="{FBD7B140-C83B-4007-AB56-B976AD4FE9B5}" type="parTrans" cxnId="{0C78A61C-63EE-4F7D-89DD-F763BE6A5ACE}">
      <dgm:prSet/>
      <dgm:spPr/>
      <dgm:t>
        <a:bodyPr/>
        <a:lstStyle/>
        <a:p>
          <a:endParaRPr lang="zh-TW" altLang="en-US"/>
        </a:p>
      </dgm:t>
    </dgm:pt>
    <dgm:pt modelId="{8B8A116E-A6C4-469D-8CF6-9EE5A0F1F9AF}" type="sibTrans" cxnId="{0C78A61C-63EE-4F7D-89DD-F763BE6A5ACE}">
      <dgm:prSet/>
      <dgm:spPr/>
      <dgm:t>
        <a:bodyPr/>
        <a:lstStyle/>
        <a:p>
          <a:endParaRPr lang="zh-TW" altLang="en-US"/>
        </a:p>
      </dgm:t>
    </dgm:pt>
    <dgm:pt modelId="{3A07891E-70E1-4088-B70C-101B182B7C2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TW"/>
            <a:t>促進決策優化與競爭力</a:t>
          </a:r>
        </a:p>
      </dgm:t>
    </dgm:pt>
    <dgm:pt modelId="{A0293B94-4A5C-4F64-9ED2-62F6CFC0CDE7}" type="parTrans" cxnId="{56AFCD44-81B5-4310-9FB6-C5F65064DF6A}">
      <dgm:prSet/>
      <dgm:spPr/>
      <dgm:t>
        <a:bodyPr/>
        <a:lstStyle/>
        <a:p>
          <a:endParaRPr lang="zh-TW" altLang="en-US"/>
        </a:p>
      </dgm:t>
    </dgm:pt>
    <dgm:pt modelId="{0FD7E1C7-20CB-4D32-899D-26E4F31DA0D2}" type="sibTrans" cxnId="{56AFCD44-81B5-4310-9FB6-C5F65064DF6A}">
      <dgm:prSet/>
      <dgm:spPr/>
      <dgm:t>
        <a:bodyPr/>
        <a:lstStyle/>
        <a:p>
          <a:endParaRPr lang="zh-TW" altLang="en-US"/>
        </a:p>
      </dgm:t>
    </dgm:pt>
    <dgm:pt modelId="{CFF8F74E-31B7-4F4F-B625-434651E8487D}">
      <dgm:prSet/>
      <dgm:spPr/>
      <dgm:t>
        <a:bodyPr/>
        <a:lstStyle/>
        <a:p>
          <a:pPr>
            <a:lnSpc>
              <a:spcPct val="100000"/>
            </a:lnSpc>
          </a:pPr>
          <a:r>
            <a:rPr lang="zh-TW"/>
            <a:t>開放性提高決策與管理效率，使組織不斷優化並提升整體競爭力。</a:t>
          </a:r>
        </a:p>
      </dgm:t>
    </dgm:pt>
    <dgm:pt modelId="{6B43900D-C47F-48F6-A36C-3A84A357011D}" type="parTrans" cxnId="{54F27606-23CE-4B7F-8C6B-D97B8BB9B527}">
      <dgm:prSet/>
      <dgm:spPr/>
      <dgm:t>
        <a:bodyPr/>
        <a:lstStyle/>
        <a:p>
          <a:endParaRPr lang="zh-TW" altLang="en-US"/>
        </a:p>
      </dgm:t>
    </dgm:pt>
    <dgm:pt modelId="{C926DE6A-DE1A-4922-8FD6-12DACE5EBB17}" type="sibTrans" cxnId="{54F27606-23CE-4B7F-8C6B-D97B8BB9B527}">
      <dgm:prSet/>
      <dgm:spPr/>
      <dgm:t>
        <a:bodyPr/>
        <a:lstStyle/>
        <a:p>
          <a:endParaRPr lang="zh-TW" altLang="en-US"/>
        </a:p>
      </dgm:t>
    </dgm:pt>
    <dgm:pt modelId="{FFA969B8-D47D-471E-89CB-F056BC6A4C8D}" type="pres">
      <dgm:prSet presAssocID="{792026DC-238E-4795-B5D8-C62410FF5707}" presName="Root" presStyleCnt="0">
        <dgm:presLayoutVars>
          <dgm:dir/>
          <dgm:resizeHandles val="exact"/>
        </dgm:presLayoutVars>
      </dgm:prSet>
      <dgm:spPr/>
    </dgm:pt>
    <dgm:pt modelId="{95898D44-479F-442E-8D50-B71CB02D340F}" type="pres">
      <dgm:prSet presAssocID="{EBBA4AAC-D222-4E06-A868-0DFC19B9012B}" presName="Composite" presStyleCnt="0"/>
      <dgm:spPr/>
    </dgm:pt>
    <dgm:pt modelId="{C41D8537-F150-4228-866D-4847AB38E12B}" type="pres">
      <dgm:prSet presAssocID="{EBBA4AAC-D222-4E06-A868-0DFC19B9012B}" presName="Picture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4" r="25427" b="2"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男子在會議中自我介紹"/>
        </a:ext>
      </dgm:extLst>
    </dgm:pt>
    <dgm:pt modelId="{C9CB4AEF-7D11-4A67-859F-70F11B09FA65}" type="pres">
      <dgm:prSet presAssocID="{EBBA4AAC-D222-4E06-A868-0DFC19B9012B}" presName="Subtitle" presStyleLbl="revTx" presStyleIdx="0" presStyleCnt="6">
        <dgm:presLayoutVars>
          <dgm:chMax val="0"/>
          <dgm:bulletEnabled/>
        </dgm:presLayoutVars>
      </dgm:prSet>
      <dgm:spPr/>
    </dgm:pt>
    <dgm:pt modelId="{2E7A8892-507E-4A83-8175-8CEB32FB4836}" type="pres">
      <dgm:prSet presAssocID="{EBBA4AAC-D222-4E06-A868-0DFC19B9012B}" presName="Description" presStyleLbl="revTx" presStyleIdx="1" presStyleCnt="6">
        <dgm:presLayoutVars>
          <dgm:bulletEnabled/>
        </dgm:presLayoutVars>
      </dgm:prSet>
      <dgm:spPr/>
    </dgm:pt>
    <dgm:pt modelId="{8A7CA8B1-99FD-4F65-BB7E-327DF57DF8C9}" type="pres">
      <dgm:prSet presAssocID="{A696E9BF-4E88-4206-8EED-8D3FA0FC9F44}" presName="sibTrans" presStyleLbl="sibTrans2D1" presStyleIdx="0" presStyleCnt="0"/>
      <dgm:spPr/>
    </dgm:pt>
    <dgm:pt modelId="{C31D5AA1-F111-4161-A09A-C155424461CF}" type="pres">
      <dgm:prSet presAssocID="{6B5E8A36-1A6C-4904-8472-D8A5266D4542}" presName="Composite" presStyleCnt="0"/>
      <dgm:spPr/>
    </dgm:pt>
    <dgm:pt modelId="{ADFFD35E-C39B-4EA6-9655-6CFB4D0BADF2}" type="pres">
      <dgm:prSet presAssocID="{6B5E8A36-1A6C-4904-8472-D8A5266D4542}" presName="Picture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8" r="25483" b="2"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會議中雙手高舉"/>
        </a:ext>
      </dgm:extLst>
    </dgm:pt>
    <dgm:pt modelId="{F8EE8CD1-7843-4F2F-BF47-75F451970A95}" type="pres">
      <dgm:prSet presAssocID="{6B5E8A36-1A6C-4904-8472-D8A5266D4542}" presName="Subtitle" presStyleLbl="revTx" presStyleIdx="2" presStyleCnt="6">
        <dgm:presLayoutVars>
          <dgm:chMax val="0"/>
          <dgm:bulletEnabled/>
        </dgm:presLayoutVars>
      </dgm:prSet>
      <dgm:spPr/>
    </dgm:pt>
    <dgm:pt modelId="{21315201-8779-463E-8466-B39FACECE6DC}" type="pres">
      <dgm:prSet presAssocID="{6B5E8A36-1A6C-4904-8472-D8A5266D4542}" presName="Description" presStyleLbl="revTx" presStyleIdx="3" presStyleCnt="6">
        <dgm:presLayoutVars>
          <dgm:bulletEnabled/>
        </dgm:presLayoutVars>
      </dgm:prSet>
      <dgm:spPr/>
    </dgm:pt>
    <dgm:pt modelId="{AA6BC00B-DD16-4A1D-A7CF-0ED10558FB5D}" type="pres">
      <dgm:prSet presAssocID="{B9AE801C-F3E7-44AF-A8CD-4DAE2A254DF1}" presName="sibTrans" presStyleLbl="sibTrans2D1" presStyleIdx="0" presStyleCnt="0"/>
      <dgm:spPr/>
    </dgm:pt>
    <dgm:pt modelId="{3C8E4A0E-8A28-469E-8982-0C3C1AD247CE}" type="pres">
      <dgm:prSet presAssocID="{3A07891E-70E1-4088-B70C-101B182B7C20}" presName="Composite" presStyleCnt="0"/>
      <dgm:spPr/>
    </dgm:pt>
    <dgm:pt modelId="{359B0FD8-7321-4216-865E-71347D16E4E1}" type="pres">
      <dgm:prSet presAssocID="{3A07891E-70E1-4088-B70C-101B182B7C20}" presName="Picture" presStyleLbl="nod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5" r="18057" b="2"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變化概念（白色上獨立）"/>
        </a:ext>
      </dgm:extLst>
    </dgm:pt>
    <dgm:pt modelId="{39DEB8C6-0A21-4D3A-9A85-97F49C47C022}" type="pres">
      <dgm:prSet presAssocID="{3A07891E-70E1-4088-B70C-101B182B7C20}" presName="Subtitle" presStyleLbl="revTx" presStyleIdx="4" presStyleCnt="6">
        <dgm:presLayoutVars>
          <dgm:chMax val="0"/>
          <dgm:bulletEnabled/>
        </dgm:presLayoutVars>
      </dgm:prSet>
      <dgm:spPr/>
    </dgm:pt>
    <dgm:pt modelId="{17EC3FF7-3FFF-48CA-A7D5-740D032CC523}" type="pres">
      <dgm:prSet presAssocID="{3A07891E-70E1-4088-B70C-101B182B7C20}" presName="Description" presStyleLbl="revTx" presStyleIdx="5" presStyleCnt="6">
        <dgm:presLayoutVars>
          <dgm:bulletEnabled/>
        </dgm:presLayoutVars>
      </dgm:prSet>
      <dgm:spPr/>
    </dgm:pt>
  </dgm:ptLst>
  <dgm:cxnLst>
    <dgm:cxn modelId="{2C81D202-395E-4E46-AB7E-B844AF6344D6}" type="presOf" srcId="{F52999DC-CA97-40CC-87E1-F94A4797194E}" destId="{21315201-8779-463E-8466-B39FACECE6DC}" srcOrd="0" destOrd="0" presId="urn:microsoft.com/office/officeart/2024/3/layout/verticalVisualTextBlock1"/>
    <dgm:cxn modelId="{54F27606-23CE-4B7F-8C6B-D97B8BB9B527}" srcId="{3A07891E-70E1-4088-B70C-101B182B7C20}" destId="{CFF8F74E-31B7-4F4F-B625-434651E8487D}" srcOrd="0" destOrd="0" parTransId="{6B43900D-C47F-48F6-A36C-3A84A357011D}" sibTransId="{C926DE6A-DE1A-4922-8FD6-12DACE5EBB17}"/>
    <dgm:cxn modelId="{D4CC040E-401D-43AB-98BC-F6DF27196447}" type="presOf" srcId="{B9AE801C-F3E7-44AF-A8CD-4DAE2A254DF1}" destId="{AA6BC00B-DD16-4A1D-A7CF-0ED10558FB5D}" srcOrd="0" destOrd="0" presId="urn:microsoft.com/office/officeart/2024/3/layout/verticalVisualTextBlock1"/>
    <dgm:cxn modelId="{B26B3E16-531B-423C-8892-40E9471267DF}" type="presOf" srcId="{3A07891E-70E1-4088-B70C-101B182B7C20}" destId="{39DEB8C6-0A21-4D3A-9A85-97F49C47C022}" srcOrd="0" destOrd="0" presId="urn:microsoft.com/office/officeart/2024/3/layout/verticalVisualTextBlock1"/>
    <dgm:cxn modelId="{0C78A61C-63EE-4F7D-89DD-F763BE6A5ACE}" srcId="{6B5E8A36-1A6C-4904-8472-D8A5266D4542}" destId="{F52999DC-CA97-40CC-87E1-F94A4797194E}" srcOrd="0" destOrd="0" parTransId="{FBD7B140-C83B-4007-AB56-B976AD4FE9B5}" sibTransId="{8B8A116E-A6C4-469D-8CF6-9EE5A0F1F9AF}"/>
    <dgm:cxn modelId="{452E7527-CF60-4D79-94F7-B28EE9330FF9}" srcId="{EBBA4AAC-D222-4E06-A868-0DFC19B9012B}" destId="{5AC567E8-5FBD-4C27-B8A6-65E2DDD853AD}" srcOrd="0" destOrd="0" parTransId="{142AE760-664B-408B-9C8E-9BBA078FC573}" sibTransId="{80B8CCDC-D29C-49F0-8678-C12384594AE7}"/>
    <dgm:cxn modelId="{9305CA35-8819-46FE-BC34-5FE5C4FC0B44}" type="presOf" srcId="{792026DC-238E-4795-B5D8-C62410FF5707}" destId="{FFA969B8-D47D-471E-89CB-F056BC6A4C8D}" srcOrd="0" destOrd="0" presId="urn:microsoft.com/office/officeart/2024/3/layout/verticalVisualTextBlock1"/>
    <dgm:cxn modelId="{627B0B38-C3C6-4C6F-87BF-0B222FC8EA02}" srcId="{792026DC-238E-4795-B5D8-C62410FF5707}" destId="{EBBA4AAC-D222-4E06-A868-0DFC19B9012B}" srcOrd="0" destOrd="0" parTransId="{C21E3018-FEAB-400D-9F76-59242FA9A902}" sibTransId="{A696E9BF-4E88-4206-8EED-8D3FA0FC9F44}"/>
    <dgm:cxn modelId="{56AFCD44-81B5-4310-9FB6-C5F65064DF6A}" srcId="{792026DC-238E-4795-B5D8-C62410FF5707}" destId="{3A07891E-70E1-4088-B70C-101B182B7C20}" srcOrd="2" destOrd="0" parTransId="{A0293B94-4A5C-4F64-9ED2-62F6CFC0CDE7}" sibTransId="{0FD7E1C7-20CB-4D32-899D-26E4F31DA0D2}"/>
    <dgm:cxn modelId="{D158CD7E-A184-495E-8A43-03A4A686829A}" type="presOf" srcId="{CFF8F74E-31B7-4F4F-B625-434651E8487D}" destId="{17EC3FF7-3FFF-48CA-A7D5-740D032CC523}" srcOrd="0" destOrd="0" presId="urn:microsoft.com/office/officeart/2024/3/layout/verticalVisualTextBlock1"/>
    <dgm:cxn modelId="{1CEF8285-752A-4DC3-9187-2A395B433574}" type="presOf" srcId="{6B5E8A36-1A6C-4904-8472-D8A5266D4542}" destId="{F8EE8CD1-7843-4F2F-BF47-75F451970A95}" srcOrd="0" destOrd="0" presId="urn:microsoft.com/office/officeart/2024/3/layout/verticalVisualTextBlock1"/>
    <dgm:cxn modelId="{A101D99A-8879-4EE3-8386-F452FCB4C22C}" srcId="{792026DC-238E-4795-B5D8-C62410FF5707}" destId="{6B5E8A36-1A6C-4904-8472-D8A5266D4542}" srcOrd="1" destOrd="0" parTransId="{FBB27A7A-D028-4002-A115-F230F7754E0A}" sibTransId="{B9AE801C-F3E7-44AF-A8CD-4DAE2A254DF1}"/>
    <dgm:cxn modelId="{3B6910B1-4E0F-4A50-8735-233573E8C67A}" type="presOf" srcId="{5AC567E8-5FBD-4C27-B8A6-65E2DDD853AD}" destId="{2E7A8892-507E-4A83-8175-8CEB32FB4836}" srcOrd="0" destOrd="0" presId="urn:microsoft.com/office/officeart/2024/3/layout/verticalVisualTextBlock1"/>
    <dgm:cxn modelId="{3B3261E0-F647-4F08-BF2E-54467327F46B}" type="presOf" srcId="{A696E9BF-4E88-4206-8EED-8D3FA0FC9F44}" destId="{8A7CA8B1-99FD-4F65-BB7E-327DF57DF8C9}" srcOrd="0" destOrd="0" presId="urn:microsoft.com/office/officeart/2024/3/layout/verticalVisualTextBlock1"/>
    <dgm:cxn modelId="{92C1C3FC-FF5D-46F9-BCB9-BF6F4C353F5D}" type="presOf" srcId="{EBBA4AAC-D222-4E06-A868-0DFC19B9012B}" destId="{C9CB4AEF-7D11-4A67-859F-70F11B09FA65}" srcOrd="0" destOrd="0" presId="urn:microsoft.com/office/officeart/2024/3/layout/verticalVisualTextBlock1"/>
    <dgm:cxn modelId="{07765177-4179-4D98-8F35-DD522746292E}" type="presParOf" srcId="{FFA969B8-D47D-471E-89CB-F056BC6A4C8D}" destId="{95898D44-479F-442E-8D50-B71CB02D340F}" srcOrd="0" destOrd="0" presId="urn:microsoft.com/office/officeart/2024/3/layout/verticalVisualTextBlock1"/>
    <dgm:cxn modelId="{B7FFD950-AB3B-447A-9A67-4726473602DD}" type="presParOf" srcId="{95898D44-479F-442E-8D50-B71CB02D340F}" destId="{C41D8537-F150-4228-866D-4847AB38E12B}" srcOrd="0" destOrd="0" presId="urn:microsoft.com/office/officeart/2024/3/layout/verticalVisualTextBlock1"/>
    <dgm:cxn modelId="{B034D271-D186-49AC-BED1-9276183DC819}" type="presParOf" srcId="{95898D44-479F-442E-8D50-B71CB02D340F}" destId="{C9CB4AEF-7D11-4A67-859F-70F11B09FA65}" srcOrd="1" destOrd="0" presId="urn:microsoft.com/office/officeart/2024/3/layout/verticalVisualTextBlock1"/>
    <dgm:cxn modelId="{9117B127-24EB-43E7-B6B6-935E5E2FA3A7}" type="presParOf" srcId="{95898D44-479F-442E-8D50-B71CB02D340F}" destId="{2E7A8892-507E-4A83-8175-8CEB32FB4836}" srcOrd="2" destOrd="0" presId="urn:microsoft.com/office/officeart/2024/3/layout/verticalVisualTextBlock1"/>
    <dgm:cxn modelId="{C730DEA9-BD5A-4B79-88E2-D06900D2986B}" type="presParOf" srcId="{FFA969B8-D47D-471E-89CB-F056BC6A4C8D}" destId="{8A7CA8B1-99FD-4F65-BB7E-327DF57DF8C9}" srcOrd="1" destOrd="0" presId="urn:microsoft.com/office/officeart/2024/3/layout/verticalVisualTextBlock1"/>
    <dgm:cxn modelId="{E19CC370-DB0B-439C-BAC2-411B9D803F2B}" type="presParOf" srcId="{FFA969B8-D47D-471E-89CB-F056BC6A4C8D}" destId="{C31D5AA1-F111-4161-A09A-C155424461CF}" srcOrd="2" destOrd="0" presId="urn:microsoft.com/office/officeart/2024/3/layout/verticalVisualTextBlock1"/>
    <dgm:cxn modelId="{4590039E-9C4C-4286-AB6C-3A75328DD224}" type="presParOf" srcId="{C31D5AA1-F111-4161-A09A-C155424461CF}" destId="{ADFFD35E-C39B-4EA6-9655-6CFB4D0BADF2}" srcOrd="0" destOrd="0" presId="urn:microsoft.com/office/officeart/2024/3/layout/verticalVisualTextBlock1"/>
    <dgm:cxn modelId="{D28FA363-19E4-4FF2-9B03-6FDA6C2127D2}" type="presParOf" srcId="{C31D5AA1-F111-4161-A09A-C155424461CF}" destId="{F8EE8CD1-7843-4F2F-BF47-75F451970A95}" srcOrd="1" destOrd="0" presId="urn:microsoft.com/office/officeart/2024/3/layout/verticalVisualTextBlock1"/>
    <dgm:cxn modelId="{DBA4A74F-1161-489F-BDD7-C715ECBDB490}" type="presParOf" srcId="{C31D5AA1-F111-4161-A09A-C155424461CF}" destId="{21315201-8779-463E-8466-B39FACECE6DC}" srcOrd="2" destOrd="0" presId="urn:microsoft.com/office/officeart/2024/3/layout/verticalVisualTextBlock1"/>
    <dgm:cxn modelId="{41FF2C5B-C1F6-4DC0-A9D3-88FBAD79E58C}" type="presParOf" srcId="{FFA969B8-D47D-471E-89CB-F056BC6A4C8D}" destId="{AA6BC00B-DD16-4A1D-A7CF-0ED10558FB5D}" srcOrd="3" destOrd="0" presId="urn:microsoft.com/office/officeart/2024/3/layout/verticalVisualTextBlock1"/>
    <dgm:cxn modelId="{2E814BC0-0152-41BF-A57A-52AB1F8888C1}" type="presParOf" srcId="{FFA969B8-D47D-471E-89CB-F056BC6A4C8D}" destId="{3C8E4A0E-8A28-469E-8982-0C3C1AD247CE}" srcOrd="4" destOrd="0" presId="urn:microsoft.com/office/officeart/2024/3/layout/verticalVisualTextBlock1"/>
    <dgm:cxn modelId="{945CF96E-B4B0-4D7C-81D8-31C35B832EAA}" type="presParOf" srcId="{3C8E4A0E-8A28-469E-8982-0C3C1AD247CE}" destId="{359B0FD8-7321-4216-865E-71347D16E4E1}" srcOrd="0" destOrd="0" presId="urn:microsoft.com/office/officeart/2024/3/layout/verticalVisualTextBlock1"/>
    <dgm:cxn modelId="{E6E93E70-10E8-46E5-A178-A02B4570E1E2}" type="presParOf" srcId="{3C8E4A0E-8A28-469E-8982-0C3C1AD247CE}" destId="{39DEB8C6-0A21-4D3A-9A85-97F49C47C022}" srcOrd="1" destOrd="0" presId="urn:microsoft.com/office/officeart/2024/3/layout/verticalVisualTextBlock1"/>
    <dgm:cxn modelId="{E3478B41-AB52-4FC6-8F6A-FC189E1659CF}" type="presParOf" srcId="{3C8E4A0E-8A28-469E-8982-0C3C1AD247CE}" destId="{17EC3FF7-3FFF-48CA-A7D5-740D032CC523}" srcOrd="2" destOrd="0" presId="urn:microsoft.com/office/officeart/2024/3/layout/verticalVisualTextBlock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0689263-8957-4BF6-833E-027E16004CFD}" type="doc">
      <dgm:prSet loTypeId="urn:microsoft.com/office/officeart/2024/3/layout/verticalVisualTextBlock1" loCatId="Picture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zh-TW" altLang="en-US"/>
        </a:p>
      </dgm:t>
    </dgm:pt>
    <dgm:pt modelId="{D392D847-0679-428C-BC76-A836D3FFA55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TW"/>
            <a:t>文化重塑</a:t>
          </a:r>
        </a:p>
      </dgm:t>
    </dgm:pt>
    <dgm:pt modelId="{32135DC0-49D3-49C1-B66F-823D8A22DABA}" type="parTrans" cxnId="{9CC10D91-77EB-4373-BFC3-2D5F5A0C0D26}">
      <dgm:prSet/>
      <dgm:spPr/>
      <dgm:t>
        <a:bodyPr/>
        <a:lstStyle/>
        <a:p>
          <a:endParaRPr lang="zh-TW" altLang="en-US"/>
        </a:p>
      </dgm:t>
    </dgm:pt>
    <dgm:pt modelId="{E98E3F96-0097-4F48-9FC8-CE4B2C052E27}" type="sibTrans" cxnId="{9CC10D91-77EB-4373-BFC3-2D5F5A0C0D26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zh-TW" altLang="en-US"/>
        </a:p>
      </dgm:t>
    </dgm:pt>
    <dgm:pt modelId="{CF996952-60A3-45BC-8AA4-646A4E4AFDDA}">
      <dgm:prSet/>
      <dgm:spPr/>
      <dgm:t>
        <a:bodyPr/>
        <a:lstStyle/>
        <a:p>
          <a:pPr>
            <a:lnSpc>
              <a:spcPct val="100000"/>
            </a:lnSpc>
          </a:pPr>
          <a:r>
            <a:rPr lang="zh-TW"/>
            <a:t>企業文化的重塑是轉型的核心，促使員工共同接受新理念與價值觀，提升凝聚力。</a:t>
          </a:r>
        </a:p>
      </dgm:t>
    </dgm:pt>
    <dgm:pt modelId="{A557BE9E-17DF-4AFE-BAE9-A185558F9566}" type="parTrans" cxnId="{CA0DF035-4517-4F40-94C8-03B705EF7235}">
      <dgm:prSet/>
      <dgm:spPr/>
      <dgm:t>
        <a:bodyPr/>
        <a:lstStyle/>
        <a:p>
          <a:endParaRPr lang="zh-TW" altLang="en-US"/>
        </a:p>
      </dgm:t>
    </dgm:pt>
    <dgm:pt modelId="{050ED274-4D70-4250-909F-706C4D9A3768}" type="sibTrans" cxnId="{CA0DF035-4517-4F40-94C8-03B705EF7235}">
      <dgm:prSet/>
      <dgm:spPr/>
      <dgm:t>
        <a:bodyPr/>
        <a:lstStyle/>
        <a:p>
          <a:endParaRPr lang="zh-TW" altLang="en-US"/>
        </a:p>
      </dgm:t>
    </dgm:pt>
    <dgm:pt modelId="{1832AF38-BEDC-4C85-8175-620C98E1C38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TW"/>
            <a:t>能力培養</a:t>
          </a:r>
        </a:p>
      </dgm:t>
    </dgm:pt>
    <dgm:pt modelId="{DE084395-A0F2-40D1-B023-7F59737DAADC}" type="parTrans" cxnId="{7539D655-168A-4BE5-BCFD-F421DD1496E0}">
      <dgm:prSet/>
      <dgm:spPr/>
      <dgm:t>
        <a:bodyPr/>
        <a:lstStyle/>
        <a:p>
          <a:endParaRPr lang="zh-TW" altLang="en-US"/>
        </a:p>
      </dgm:t>
    </dgm:pt>
    <dgm:pt modelId="{F24208A1-7069-405A-8C5E-2AE97D7A5BD6}" type="sibTrans" cxnId="{7539D655-168A-4BE5-BCFD-F421DD1496E0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zh-TW" altLang="en-US"/>
        </a:p>
      </dgm:t>
    </dgm:pt>
    <dgm:pt modelId="{90A031F2-CB03-45FF-AA11-D373EEF77F1B}">
      <dgm:prSet/>
      <dgm:spPr/>
      <dgm:t>
        <a:bodyPr/>
        <a:lstStyle/>
        <a:p>
          <a:pPr>
            <a:lnSpc>
              <a:spcPct val="100000"/>
            </a:lnSpc>
          </a:pPr>
          <a:r>
            <a:rPr lang="zh-TW"/>
            <a:t>員工能力的培養需與企業策略同步推進，持續強化專業技能以因應未來挑戰。</a:t>
          </a:r>
        </a:p>
      </dgm:t>
    </dgm:pt>
    <dgm:pt modelId="{72001746-671B-418D-81CD-A1E2EC2EA5AE}" type="parTrans" cxnId="{E524F077-D2A5-4F94-9309-8B16A7AE0ABE}">
      <dgm:prSet/>
      <dgm:spPr/>
      <dgm:t>
        <a:bodyPr/>
        <a:lstStyle/>
        <a:p>
          <a:endParaRPr lang="zh-TW" altLang="en-US"/>
        </a:p>
      </dgm:t>
    </dgm:pt>
    <dgm:pt modelId="{6382E519-4125-40D2-B2AF-095BEF33FA2B}" type="sibTrans" cxnId="{E524F077-D2A5-4F94-9309-8B16A7AE0ABE}">
      <dgm:prSet/>
      <dgm:spPr/>
      <dgm:t>
        <a:bodyPr/>
        <a:lstStyle/>
        <a:p>
          <a:endParaRPr lang="zh-TW" altLang="en-US"/>
        </a:p>
      </dgm:t>
    </dgm:pt>
    <dgm:pt modelId="{ECA5865A-57CC-465E-9BA5-86984A24FE2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TW"/>
            <a:t>組織結構調整</a:t>
          </a:r>
        </a:p>
      </dgm:t>
    </dgm:pt>
    <dgm:pt modelId="{EA670720-36DB-455E-B9F8-F063F68C082F}" type="parTrans" cxnId="{4CAE3540-646F-4B67-9B1F-E2B554992BDA}">
      <dgm:prSet/>
      <dgm:spPr/>
      <dgm:t>
        <a:bodyPr/>
        <a:lstStyle/>
        <a:p>
          <a:endParaRPr lang="zh-TW" altLang="en-US"/>
        </a:p>
      </dgm:t>
    </dgm:pt>
    <dgm:pt modelId="{B7CA6A58-E2C4-45E3-9D0C-9324B5979F08}" type="sibTrans" cxnId="{4CAE3540-646F-4B67-9B1F-E2B554992BDA}">
      <dgm:prSet/>
      <dgm:spPr/>
      <dgm:t>
        <a:bodyPr/>
        <a:lstStyle/>
        <a:p>
          <a:endParaRPr lang="zh-TW" altLang="en-US"/>
        </a:p>
      </dgm:t>
    </dgm:pt>
    <dgm:pt modelId="{F92A2D56-80C3-40C7-ABA2-C35794214718}">
      <dgm:prSet/>
      <dgm:spPr/>
      <dgm:t>
        <a:bodyPr/>
        <a:lstStyle/>
        <a:p>
          <a:pPr>
            <a:lnSpc>
              <a:spcPct val="100000"/>
            </a:lnSpc>
          </a:pPr>
          <a:r>
            <a:rPr lang="zh-TW"/>
            <a:t>組織需靈活調整結構，確保新技術和能力能有效融入企業運作，提升整體效率。</a:t>
          </a:r>
        </a:p>
      </dgm:t>
    </dgm:pt>
    <dgm:pt modelId="{ADFD20CA-52CC-436F-8FA7-5003E6AC97C3}" type="parTrans" cxnId="{000A33AA-B5FF-4533-91EF-DB2F05316ACD}">
      <dgm:prSet/>
      <dgm:spPr/>
      <dgm:t>
        <a:bodyPr/>
        <a:lstStyle/>
        <a:p>
          <a:endParaRPr lang="zh-TW" altLang="en-US"/>
        </a:p>
      </dgm:t>
    </dgm:pt>
    <dgm:pt modelId="{6D4EF21F-C641-4B55-AB8A-EB0EA67BEF48}" type="sibTrans" cxnId="{000A33AA-B5FF-4533-91EF-DB2F05316ACD}">
      <dgm:prSet/>
      <dgm:spPr/>
      <dgm:t>
        <a:bodyPr/>
        <a:lstStyle/>
        <a:p>
          <a:endParaRPr lang="zh-TW" altLang="en-US"/>
        </a:p>
      </dgm:t>
    </dgm:pt>
    <dgm:pt modelId="{3BF3F303-CCF3-4F6C-B5A9-FEEBDF3DA5DE}" type="pres">
      <dgm:prSet presAssocID="{30689263-8957-4BF6-833E-027E16004CFD}" presName="Root" presStyleCnt="0">
        <dgm:presLayoutVars>
          <dgm:dir/>
          <dgm:resizeHandles val="exact"/>
        </dgm:presLayoutVars>
      </dgm:prSet>
      <dgm:spPr/>
    </dgm:pt>
    <dgm:pt modelId="{18E8827C-3A21-455F-B04C-A2FCA9F20A65}" type="pres">
      <dgm:prSet presAssocID="{D392D847-0679-428C-BC76-A836D3FFA55D}" presName="Composite" presStyleCnt="0"/>
      <dgm:spPr/>
    </dgm:pt>
    <dgm:pt modelId="{422FFBCB-37F9-4937-B9B3-E21CBB773CA9}" type="pres">
      <dgm:prSet presAssocID="{D392D847-0679-428C-BC76-A836D3FFA55D}" presName="Picture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04" r="7192" b="-6"/>
          <a:stretch>
            <a:fillRect l="-15000" r="-15000"/>
          </a:stretch>
        </a:blipFill>
      </dgm:spPr>
      <dgm:extLst>
        <a:ext uri="{E40237B7-FDA0-4F09-8148-C483321AD2D9}">
          <dgm14:cNvPr xmlns:dgm14="http://schemas.microsoft.com/office/drawing/2010/diagram" id="0" name="" descr="業務團隊從字母區塊組成單字。"/>
        </a:ext>
      </dgm:extLst>
    </dgm:pt>
    <dgm:pt modelId="{B8DD3F91-A98C-4931-8E4E-E87471BBE5FB}" type="pres">
      <dgm:prSet presAssocID="{D392D847-0679-428C-BC76-A836D3FFA55D}" presName="Subtitle" presStyleLbl="revTx" presStyleIdx="0" presStyleCnt="6">
        <dgm:presLayoutVars>
          <dgm:chMax val="0"/>
          <dgm:bulletEnabled/>
        </dgm:presLayoutVars>
      </dgm:prSet>
      <dgm:spPr/>
    </dgm:pt>
    <dgm:pt modelId="{7878A0B7-4DCD-4CEA-94FC-63158E3039D2}" type="pres">
      <dgm:prSet presAssocID="{D392D847-0679-428C-BC76-A836D3FFA55D}" presName="Description" presStyleLbl="revTx" presStyleIdx="1" presStyleCnt="6">
        <dgm:presLayoutVars>
          <dgm:bulletEnabled/>
        </dgm:presLayoutVars>
      </dgm:prSet>
      <dgm:spPr/>
    </dgm:pt>
    <dgm:pt modelId="{87E3EE4D-EB6F-41D0-931D-02F4FB45542E}" type="pres">
      <dgm:prSet presAssocID="{E98E3F96-0097-4F48-9FC8-CE4B2C052E27}" presName="sibTrans" presStyleLbl="sibTrans2D1" presStyleIdx="0" presStyleCnt="0"/>
      <dgm:spPr/>
    </dgm:pt>
    <dgm:pt modelId="{8EC8086C-AB3E-435F-98FD-8D423D099FF4}" type="pres">
      <dgm:prSet presAssocID="{1832AF38-BEDC-4C85-8175-620C98E1C386}" presName="Composite" presStyleCnt="0"/>
      <dgm:spPr/>
    </dgm:pt>
    <dgm:pt modelId="{54DD078D-4578-4D90-9D5F-3E58936A7025}" type="pres">
      <dgm:prSet presAssocID="{1832AF38-BEDC-4C85-8175-620C98E1C386}" presName="Picture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5" r="22957" b="4"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會議室裡有五份同一位商人影集，其中一人在簡報，另外四人則在桌邊做其他事。一個在發簡訊，一個在喝酒，一個在用筆電工作，最後一個是唯一在聽的人......"/>
        </a:ext>
      </dgm:extLst>
    </dgm:pt>
    <dgm:pt modelId="{0DAD49AE-EBA4-403A-951E-00F655F54A46}" type="pres">
      <dgm:prSet presAssocID="{1832AF38-BEDC-4C85-8175-620C98E1C386}" presName="Subtitle" presStyleLbl="revTx" presStyleIdx="2" presStyleCnt="6">
        <dgm:presLayoutVars>
          <dgm:chMax val="0"/>
          <dgm:bulletEnabled/>
        </dgm:presLayoutVars>
      </dgm:prSet>
      <dgm:spPr/>
    </dgm:pt>
    <dgm:pt modelId="{AED03CB1-9626-4A72-ACC8-84387AC09F68}" type="pres">
      <dgm:prSet presAssocID="{1832AF38-BEDC-4C85-8175-620C98E1C386}" presName="Description" presStyleLbl="revTx" presStyleIdx="3" presStyleCnt="6">
        <dgm:presLayoutVars>
          <dgm:bulletEnabled/>
        </dgm:presLayoutVars>
      </dgm:prSet>
      <dgm:spPr/>
    </dgm:pt>
    <dgm:pt modelId="{89269D84-89BD-4D04-A3F9-211D1D4D7550}" type="pres">
      <dgm:prSet presAssocID="{F24208A1-7069-405A-8C5E-2AE97D7A5BD6}" presName="sibTrans" presStyleLbl="sibTrans2D1" presStyleIdx="0" presStyleCnt="0"/>
      <dgm:spPr/>
    </dgm:pt>
    <dgm:pt modelId="{417C266B-ED28-413C-AF2E-D987805691E8}" type="pres">
      <dgm:prSet presAssocID="{ECA5865A-57CC-465E-9BA5-86984A24FE2B}" presName="Composite" presStyleCnt="0"/>
      <dgm:spPr/>
    </dgm:pt>
    <dgm:pt modelId="{4FFCD696-2A22-4893-8308-AE8854D53B7D}" type="pres">
      <dgm:prSet presAssocID="{ECA5865A-57CC-465E-9BA5-86984A24FE2B}" presName="Picture" presStyleLbl="nod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10" r="16635" b="-7"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團隊合作組織 群組組織階層"/>
        </a:ext>
      </dgm:extLst>
    </dgm:pt>
    <dgm:pt modelId="{F4EF706B-51BF-4F3A-AD68-19BC250F2C41}" type="pres">
      <dgm:prSet presAssocID="{ECA5865A-57CC-465E-9BA5-86984A24FE2B}" presName="Subtitle" presStyleLbl="revTx" presStyleIdx="4" presStyleCnt="6">
        <dgm:presLayoutVars>
          <dgm:chMax val="0"/>
          <dgm:bulletEnabled/>
        </dgm:presLayoutVars>
      </dgm:prSet>
      <dgm:spPr/>
    </dgm:pt>
    <dgm:pt modelId="{DAA45C1D-1446-4C01-81BA-99EDF8E372EF}" type="pres">
      <dgm:prSet presAssocID="{ECA5865A-57CC-465E-9BA5-86984A24FE2B}" presName="Description" presStyleLbl="revTx" presStyleIdx="5" presStyleCnt="6">
        <dgm:presLayoutVars>
          <dgm:bulletEnabled/>
        </dgm:presLayoutVars>
      </dgm:prSet>
      <dgm:spPr/>
    </dgm:pt>
  </dgm:ptLst>
  <dgm:cxnLst>
    <dgm:cxn modelId="{9887A528-9A9A-40B0-9C88-B7C6EED1AC6A}" type="presOf" srcId="{30689263-8957-4BF6-833E-027E16004CFD}" destId="{3BF3F303-CCF3-4F6C-B5A9-FEEBDF3DA5DE}" srcOrd="0" destOrd="0" presId="urn:microsoft.com/office/officeart/2024/3/layout/verticalVisualTextBlock1"/>
    <dgm:cxn modelId="{2F6B1A35-CAA8-4A9E-9B00-64190DC18E0C}" type="presOf" srcId="{E98E3F96-0097-4F48-9FC8-CE4B2C052E27}" destId="{87E3EE4D-EB6F-41D0-931D-02F4FB45542E}" srcOrd="0" destOrd="0" presId="urn:microsoft.com/office/officeart/2024/3/layout/verticalVisualTextBlock1"/>
    <dgm:cxn modelId="{CA0DF035-4517-4F40-94C8-03B705EF7235}" srcId="{D392D847-0679-428C-BC76-A836D3FFA55D}" destId="{CF996952-60A3-45BC-8AA4-646A4E4AFDDA}" srcOrd="0" destOrd="0" parTransId="{A557BE9E-17DF-4AFE-BAE9-A185558F9566}" sibTransId="{050ED274-4D70-4250-909F-706C4D9A3768}"/>
    <dgm:cxn modelId="{4CAE3540-646F-4B67-9B1F-E2B554992BDA}" srcId="{30689263-8957-4BF6-833E-027E16004CFD}" destId="{ECA5865A-57CC-465E-9BA5-86984A24FE2B}" srcOrd="2" destOrd="0" parTransId="{EA670720-36DB-455E-B9F8-F063F68C082F}" sibTransId="{B7CA6A58-E2C4-45E3-9D0C-9324B5979F08}"/>
    <dgm:cxn modelId="{EE127262-9D97-48D2-B199-AD005969BF28}" type="presOf" srcId="{1832AF38-BEDC-4C85-8175-620C98E1C386}" destId="{0DAD49AE-EBA4-403A-951E-00F655F54A46}" srcOrd="0" destOrd="0" presId="urn:microsoft.com/office/officeart/2024/3/layout/verticalVisualTextBlock1"/>
    <dgm:cxn modelId="{ADBF2E6D-1A21-4C2E-97EA-0867D83C88C3}" type="presOf" srcId="{ECA5865A-57CC-465E-9BA5-86984A24FE2B}" destId="{F4EF706B-51BF-4F3A-AD68-19BC250F2C41}" srcOrd="0" destOrd="0" presId="urn:microsoft.com/office/officeart/2024/3/layout/verticalVisualTextBlock1"/>
    <dgm:cxn modelId="{39A2ED4E-AC95-459F-9388-3D6A3912CA4A}" type="presOf" srcId="{90A031F2-CB03-45FF-AA11-D373EEF77F1B}" destId="{AED03CB1-9626-4A72-ACC8-84387AC09F68}" srcOrd="0" destOrd="0" presId="urn:microsoft.com/office/officeart/2024/3/layout/verticalVisualTextBlock1"/>
    <dgm:cxn modelId="{7539D655-168A-4BE5-BCFD-F421DD1496E0}" srcId="{30689263-8957-4BF6-833E-027E16004CFD}" destId="{1832AF38-BEDC-4C85-8175-620C98E1C386}" srcOrd="1" destOrd="0" parTransId="{DE084395-A0F2-40D1-B023-7F59737DAADC}" sibTransId="{F24208A1-7069-405A-8C5E-2AE97D7A5BD6}"/>
    <dgm:cxn modelId="{75A33A77-C1BB-4613-A4C1-CC458F361C36}" type="presOf" srcId="{F92A2D56-80C3-40C7-ABA2-C35794214718}" destId="{DAA45C1D-1446-4C01-81BA-99EDF8E372EF}" srcOrd="0" destOrd="0" presId="urn:microsoft.com/office/officeart/2024/3/layout/verticalVisualTextBlock1"/>
    <dgm:cxn modelId="{E524F077-D2A5-4F94-9309-8B16A7AE0ABE}" srcId="{1832AF38-BEDC-4C85-8175-620C98E1C386}" destId="{90A031F2-CB03-45FF-AA11-D373EEF77F1B}" srcOrd="0" destOrd="0" parTransId="{72001746-671B-418D-81CD-A1E2EC2EA5AE}" sibTransId="{6382E519-4125-40D2-B2AF-095BEF33FA2B}"/>
    <dgm:cxn modelId="{EBF9BD86-9DAA-486E-9DDF-2B6CC31C6819}" type="presOf" srcId="{F24208A1-7069-405A-8C5E-2AE97D7A5BD6}" destId="{89269D84-89BD-4D04-A3F9-211D1D4D7550}" srcOrd="0" destOrd="0" presId="urn:microsoft.com/office/officeart/2024/3/layout/verticalVisualTextBlock1"/>
    <dgm:cxn modelId="{9CC10D91-77EB-4373-BFC3-2D5F5A0C0D26}" srcId="{30689263-8957-4BF6-833E-027E16004CFD}" destId="{D392D847-0679-428C-BC76-A836D3FFA55D}" srcOrd="0" destOrd="0" parTransId="{32135DC0-49D3-49C1-B66F-823D8A22DABA}" sibTransId="{E98E3F96-0097-4F48-9FC8-CE4B2C052E27}"/>
    <dgm:cxn modelId="{000A33AA-B5FF-4533-91EF-DB2F05316ACD}" srcId="{ECA5865A-57CC-465E-9BA5-86984A24FE2B}" destId="{F92A2D56-80C3-40C7-ABA2-C35794214718}" srcOrd="0" destOrd="0" parTransId="{ADFD20CA-52CC-436F-8FA7-5003E6AC97C3}" sibTransId="{6D4EF21F-C641-4B55-AB8A-EB0EA67BEF48}"/>
    <dgm:cxn modelId="{27FBA7C9-4F94-4234-B640-20912954B093}" type="presOf" srcId="{CF996952-60A3-45BC-8AA4-646A4E4AFDDA}" destId="{7878A0B7-4DCD-4CEA-94FC-63158E3039D2}" srcOrd="0" destOrd="0" presId="urn:microsoft.com/office/officeart/2024/3/layout/verticalVisualTextBlock1"/>
    <dgm:cxn modelId="{A6B0D9FC-6CFB-42B3-BC2A-FB29BCF1DA96}" type="presOf" srcId="{D392D847-0679-428C-BC76-A836D3FFA55D}" destId="{B8DD3F91-A98C-4931-8E4E-E87471BBE5FB}" srcOrd="0" destOrd="0" presId="urn:microsoft.com/office/officeart/2024/3/layout/verticalVisualTextBlock1"/>
    <dgm:cxn modelId="{DEB994B0-12EF-475D-88F0-2E587E83B7C8}" type="presParOf" srcId="{3BF3F303-CCF3-4F6C-B5A9-FEEBDF3DA5DE}" destId="{18E8827C-3A21-455F-B04C-A2FCA9F20A65}" srcOrd="0" destOrd="0" presId="urn:microsoft.com/office/officeart/2024/3/layout/verticalVisualTextBlock1"/>
    <dgm:cxn modelId="{CA1ACA0B-8A4F-47E5-AD67-7E3BF4DC24A7}" type="presParOf" srcId="{18E8827C-3A21-455F-B04C-A2FCA9F20A65}" destId="{422FFBCB-37F9-4937-B9B3-E21CBB773CA9}" srcOrd="0" destOrd="0" presId="urn:microsoft.com/office/officeart/2024/3/layout/verticalVisualTextBlock1"/>
    <dgm:cxn modelId="{9D9B8740-F4E0-4EA4-8D8E-A45EE7028146}" type="presParOf" srcId="{18E8827C-3A21-455F-B04C-A2FCA9F20A65}" destId="{B8DD3F91-A98C-4931-8E4E-E87471BBE5FB}" srcOrd="1" destOrd="0" presId="urn:microsoft.com/office/officeart/2024/3/layout/verticalVisualTextBlock1"/>
    <dgm:cxn modelId="{7F5C0929-CAF8-42E9-AF5E-918F7E6C6172}" type="presParOf" srcId="{18E8827C-3A21-455F-B04C-A2FCA9F20A65}" destId="{7878A0B7-4DCD-4CEA-94FC-63158E3039D2}" srcOrd="2" destOrd="0" presId="urn:microsoft.com/office/officeart/2024/3/layout/verticalVisualTextBlock1"/>
    <dgm:cxn modelId="{A66080CA-0BFB-4A35-B950-0F537FC2AEEA}" type="presParOf" srcId="{3BF3F303-CCF3-4F6C-B5A9-FEEBDF3DA5DE}" destId="{87E3EE4D-EB6F-41D0-931D-02F4FB45542E}" srcOrd="1" destOrd="0" presId="urn:microsoft.com/office/officeart/2024/3/layout/verticalVisualTextBlock1"/>
    <dgm:cxn modelId="{54FACD4D-07D5-4300-9E70-142943664CB8}" type="presParOf" srcId="{3BF3F303-CCF3-4F6C-B5A9-FEEBDF3DA5DE}" destId="{8EC8086C-AB3E-435F-98FD-8D423D099FF4}" srcOrd="2" destOrd="0" presId="urn:microsoft.com/office/officeart/2024/3/layout/verticalVisualTextBlock1"/>
    <dgm:cxn modelId="{87F0688D-2716-4328-9905-9576700B4207}" type="presParOf" srcId="{8EC8086C-AB3E-435F-98FD-8D423D099FF4}" destId="{54DD078D-4578-4D90-9D5F-3E58936A7025}" srcOrd="0" destOrd="0" presId="urn:microsoft.com/office/officeart/2024/3/layout/verticalVisualTextBlock1"/>
    <dgm:cxn modelId="{E979F73C-5E98-441C-AE42-0BE07A0ED075}" type="presParOf" srcId="{8EC8086C-AB3E-435F-98FD-8D423D099FF4}" destId="{0DAD49AE-EBA4-403A-951E-00F655F54A46}" srcOrd="1" destOrd="0" presId="urn:microsoft.com/office/officeart/2024/3/layout/verticalVisualTextBlock1"/>
    <dgm:cxn modelId="{375C883A-556D-4108-9566-DC7A0770250F}" type="presParOf" srcId="{8EC8086C-AB3E-435F-98FD-8D423D099FF4}" destId="{AED03CB1-9626-4A72-ACC8-84387AC09F68}" srcOrd="2" destOrd="0" presId="urn:microsoft.com/office/officeart/2024/3/layout/verticalVisualTextBlock1"/>
    <dgm:cxn modelId="{A4A0F2EF-18D8-4327-9C71-675603E99F03}" type="presParOf" srcId="{3BF3F303-CCF3-4F6C-B5A9-FEEBDF3DA5DE}" destId="{89269D84-89BD-4D04-A3F9-211D1D4D7550}" srcOrd="3" destOrd="0" presId="urn:microsoft.com/office/officeart/2024/3/layout/verticalVisualTextBlock1"/>
    <dgm:cxn modelId="{B2C9955C-6DFA-4DE8-9E7F-6F15737AB240}" type="presParOf" srcId="{3BF3F303-CCF3-4F6C-B5A9-FEEBDF3DA5DE}" destId="{417C266B-ED28-413C-AF2E-D987805691E8}" srcOrd="4" destOrd="0" presId="urn:microsoft.com/office/officeart/2024/3/layout/verticalVisualTextBlock1"/>
    <dgm:cxn modelId="{B142A6C2-2022-4AB5-BB34-2D39DB493641}" type="presParOf" srcId="{417C266B-ED28-413C-AF2E-D987805691E8}" destId="{4FFCD696-2A22-4893-8308-AE8854D53B7D}" srcOrd="0" destOrd="0" presId="urn:microsoft.com/office/officeart/2024/3/layout/verticalVisualTextBlock1"/>
    <dgm:cxn modelId="{B4D2DA6F-5910-414D-BF24-98CACC5EF6C1}" type="presParOf" srcId="{417C266B-ED28-413C-AF2E-D987805691E8}" destId="{F4EF706B-51BF-4F3A-AD68-19BC250F2C41}" srcOrd="1" destOrd="0" presId="urn:microsoft.com/office/officeart/2024/3/layout/verticalVisualTextBlock1"/>
    <dgm:cxn modelId="{41A9C730-AE1F-481D-9F9B-8169A6D989D5}" type="presParOf" srcId="{417C266B-ED28-413C-AF2E-D987805691E8}" destId="{DAA45C1D-1446-4C01-81BA-99EDF8E372EF}" srcOrd="2" destOrd="0" presId="urn:microsoft.com/office/officeart/2024/3/layout/verticalVisualTextBlock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237225C-5C68-4022-BC63-DD3D1098B5AE}" type="doc">
      <dgm:prSet loTypeId="urn:microsoft.com/office/officeart/2024/3/layout/verticalVisualTextBlock1" loCatId="Picture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zh-TW" altLang="en-US"/>
        </a:p>
      </dgm:t>
    </dgm:pt>
    <dgm:pt modelId="{A171E38C-26A3-4AB2-9A67-903F7E99B7C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TW"/>
            <a:t>避免表面變革</a:t>
          </a:r>
        </a:p>
      </dgm:t>
    </dgm:pt>
    <dgm:pt modelId="{E368D5A0-D385-4E9F-93F8-58476BE55162}" type="parTrans" cxnId="{B8D3133D-2B23-42A8-8345-DCC34F8D2A37}">
      <dgm:prSet/>
      <dgm:spPr/>
      <dgm:t>
        <a:bodyPr/>
        <a:lstStyle/>
        <a:p>
          <a:endParaRPr lang="zh-TW" altLang="en-US"/>
        </a:p>
      </dgm:t>
    </dgm:pt>
    <dgm:pt modelId="{C168E86E-7F75-4737-9DE3-2A1DE803BE7F}" type="sibTrans" cxnId="{B8D3133D-2B23-42A8-8345-DCC34F8D2A37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zh-TW" altLang="en-US"/>
        </a:p>
      </dgm:t>
    </dgm:pt>
    <dgm:pt modelId="{72557649-FD2B-407A-A480-801268F8617C}">
      <dgm:prSet/>
      <dgm:spPr/>
      <dgm:t>
        <a:bodyPr/>
        <a:lstStyle/>
        <a:p>
          <a:pPr>
            <a:lnSpc>
              <a:spcPct val="100000"/>
            </a:lnSpc>
          </a:pPr>
          <a:r>
            <a:rPr lang="zh-TW"/>
            <a:t>將轉型視為短暫事件，僅產生表面改變，無法帶來長遠成效。</a:t>
          </a:r>
        </a:p>
      </dgm:t>
    </dgm:pt>
    <dgm:pt modelId="{A665C85C-15A2-4EE6-A66A-A89FC87BC3E2}" type="parTrans" cxnId="{00DAA152-7AA5-4F53-8534-C716CCFC6D91}">
      <dgm:prSet/>
      <dgm:spPr/>
      <dgm:t>
        <a:bodyPr/>
        <a:lstStyle/>
        <a:p>
          <a:endParaRPr lang="zh-TW" altLang="en-US"/>
        </a:p>
      </dgm:t>
    </dgm:pt>
    <dgm:pt modelId="{3EF73B92-2C31-4F9B-9547-D66C931F4FC4}" type="sibTrans" cxnId="{00DAA152-7AA5-4F53-8534-C716CCFC6D91}">
      <dgm:prSet/>
      <dgm:spPr/>
      <dgm:t>
        <a:bodyPr/>
        <a:lstStyle/>
        <a:p>
          <a:endParaRPr lang="zh-TW" altLang="en-US"/>
        </a:p>
      </dgm:t>
    </dgm:pt>
    <dgm:pt modelId="{3A319ED4-B0EE-4816-B9D0-6481591A919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TW"/>
            <a:t>文化停滯的風險</a:t>
          </a:r>
        </a:p>
      </dgm:t>
    </dgm:pt>
    <dgm:pt modelId="{D802D2A5-312D-4930-85E0-D7B108CCFFD8}" type="parTrans" cxnId="{B73A15F2-8ABE-43C6-9356-D9C13F2E5DE9}">
      <dgm:prSet/>
      <dgm:spPr/>
      <dgm:t>
        <a:bodyPr/>
        <a:lstStyle/>
        <a:p>
          <a:endParaRPr lang="zh-TW" altLang="en-US"/>
        </a:p>
      </dgm:t>
    </dgm:pt>
    <dgm:pt modelId="{2BC5E4A0-A417-4E72-A401-8DFB7AD8F585}" type="sibTrans" cxnId="{B73A15F2-8ABE-43C6-9356-D9C13F2E5DE9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zh-TW" altLang="en-US"/>
        </a:p>
      </dgm:t>
    </dgm:pt>
    <dgm:pt modelId="{B78C16C0-9A2A-4687-88D2-F6F8FC9E4105}">
      <dgm:prSet/>
      <dgm:spPr/>
      <dgm:t>
        <a:bodyPr/>
        <a:lstStyle/>
        <a:p>
          <a:pPr>
            <a:lnSpc>
              <a:spcPct val="100000"/>
            </a:lnSpc>
          </a:pPr>
          <a:r>
            <a:rPr lang="zh-TW"/>
            <a:t>社會文化的停滯會拖慢技術革新與創新落地的速度。</a:t>
          </a:r>
        </a:p>
      </dgm:t>
    </dgm:pt>
    <dgm:pt modelId="{5C13FD21-26FF-4C9E-8558-CF4887BC096A}" type="parTrans" cxnId="{D2E1FA18-2162-4061-B662-AE93A124E263}">
      <dgm:prSet/>
      <dgm:spPr/>
      <dgm:t>
        <a:bodyPr/>
        <a:lstStyle/>
        <a:p>
          <a:endParaRPr lang="zh-TW" altLang="en-US"/>
        </a:p>
      </dgm:t>
    </dgm:pt>
    <dgm:pt modelId="{A3CDAC28-BC09-4E4F-84FD-48043C96B490}" type="sibTrans" cxnId="{D2E1FA18-2162-4061-B662-AE93A124E263}">
      <dgm:prSet/>
      <dgm:spPr/>
      <dgm:t>
        <a:bodyPr/>
        <a:lstStyle/>
        <a:p>
          <a:endParaRPr lang="zh-TW" altLang="en-US"/>
        </a:p>
      </dgm:t>
    </dgm:pt>
    <dgm:pt modelId="{149BD86F-A3FA-434D-A88F-CE2F525FA68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TW"/>
            <a:t>持續且深層的轉型</a:t>
          </a:r>
        </a:p>
      </dgm:t>
    </dgm:pt>
    <dgm:pt modelId="{D2368015-770E-4F01-94D8-35896D2BABE1}" type="parTrans" cxnId="{C7EBBC9F-0C2E-41A0-8D42-9998D781BBFA}">
      <dgm:prSet/>
      <dgm:spPr/>
      <dgm:t>
        <a:bodyPr/>
        <a:lstStyle/>
        <a:p>
          <a:endParaRPr lang="zh-TW" altLang="en-US"/>
        </a:p>
      </dgm:t>
    </dgm:pt>
    <dgm:pt modelId="{EE9CF110-D17E-4C3A-989D-489B2DCB7356}" type="sibTrans" cxnId="{C7EBBC9F-0C2E-41A0-8D42-9998D781BBFA}">
      <dgm:prSet/>
      <dgm:spPr/>
      <dgm:t>
        <a:bodyPr/>
        <a:lstStyle/>
        <a:p>
          <a:endParaRPr lang="zh-TW" altLang="en-US"/>
        </a:p>
      </dgm:t>
    </dgm:pt>
    <dgm:pt modelId="{F31AA04A-7C53-48E6-8A2A-BA0EFCC36F9A}">
      <dgm:prSet/>
      <dgm:spPr/>
      <dgm:t>
        <a:bodyPr/>
        <a:lstStyle/>
        <a:p>
          <a:pPr>
            <a:lnSpc>
              <a:spcPct val="100000"/>
            </a:lnSpc>
          </a:pPr>
          <a:r>
            <a:rPr lang="zh-TW"/>
            <a:t>真正的轉型需長期進行，涵蓋文化與制度層面的整合與創新。</a:t>
          </a:r>
        </a:p>
      </dgm:t>
    </dgm:pt>
    <dgm:pt modelId="{E9987B67-8684-4D70-9A36-FE8EBB4AF061}" type="parTrans" cxnId="{C86EA960-D4FA-4779-8F80-20F0A7BFD72A}">
      <dgm:prSet/>
      <dgm:spPr/>
      <dgm:t>
        <a:bodyPr/>
        <a:lstStyle/>
        <a:p>
          <a:endParaRPr lang="zh-TW" altLang="en-US"/>
        </a:p>
      </dgm:t>
    </dgm:pt>
    <dgm:pt modelId="{79183172-D5AE-48AC-8EDB-CD6872200D42}" type="sibTrans" cxnId="{C86EA960-D4FA-4779-8F80-20F0A7BFD72A}">
      <dgm:prSet/>
      <dgm:spPr/>
      <dgm:t>
        <a:bodyPr/>
        <a:lstStyle/>
        <a:p>
          <a:endParaRPr lang="zh-TW" altLang="en-US"/>
        </a:p>
      </dgm:t>
    </dgm:pt>
    <dgm:pt modelId="{D38786D1-0B71-4A79-93EC-744B60F0A9A0}" type="pres">
      <dgm:prSet presAssocID="{3237225C-5C68-4022-BC63-DD3D1098B5AE}" presName="Root" presStyleCnt="0">
        <dgm:presLayoutVars>
          <dgm:dir/>
          <dgm:resizeHandles val="exact"/>
        </dgm:presLayoutVars>
      </dgm:prSet>
      <dgm:spPr/>
    </dgm:pt>
    <dgm:pt modelId="{F79426F2-7BE8-4AC5-912A-5DEF1E0FEFA0}" type="pres">
      <dgm:prSet presAssocID="{A171E38C-26A3-4AB2-9A67-903F7E99B7CF}" presName="Composite" presStyleCnt="0"/>
      <dgm:spPr/>
    </dgm:pt>
    <dgm:pt modelId="{50B0ED24-9755-4C10-9F36-076074C98955}" type="pres">
      <dgm:prSet presAssocID="{A171E38C-26A3-4AB2-9A67-903F7E99B7CF}" presName="Picture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6" r="20029" b="-7"/>
          <a:stretch/>
        </a:blipFill>
      </dgm:spPr>
      <dgm:extLst>
        <a:ext uri="{E40237B7-FDA0-4F09-8148-C483321AD2D9}">
          <dgm14:cNvPr xmlns:dgm14="http://schemas.microsoft.com/office/drawing/2010/diagram" id="0" name="" descr="海浪與田園詩般的夏日天空。"/>
        </a:ext>
      </dgm:extLst>
    </dgm:pt>
    <dgm:pt modelId="{ACA44AA9-2C44-4773-8717-DD04F7E3EAEA}" type="pres">
      <dgm:prSet presAssocID="{A171E38C-26A3-4AB2-9A67-903F7E99B7CF}" presName="Subtitle" presStyleLbl="revTx" presStyleIdx="0" presStyleCnt="6">
        <dgm:presLayoutVars>
          <dgm:chMax val="0"/>
          <dgm:bulletEnabled/>
        </dgm:presLayoutVars>
      </dgm:prSet>
      <dgm:spPr/>
    </dgm:pt>
    <dgm:pt modelId="{E5571225-99FA-4ADD-9B5F-392435C30F30}" type="pres">
      <dgm:prSet presAssocID="{A171E38C-26A3-4AB2-9A67-903F7E99B7CF}" presName="Description" presStyleLbl="revTx" presStyleIdx="1" presStyleCnt="6">
        <dgm:presLayoutVars>
          <dgm:bulletEnabled/>
        </dgm:presLayoutVars>
      </dgm:prSet>
      <dgm:spPr/>
    </dgm:pt>
    <dgm:pt modelId="{4DE3DC14-1F22-4619-A597-88E1E927F8D2}" type="pres">
      <dgm:prSet presAssocID="{C168E86E-7F75-4737-9DE3-2A1DE803BE7F}" presName="sibTrans" presStyleLbl="sibTrans2D1" presStyleIdx="0" presStyleCnt="0"/>
      <dgm:spPr/>
    </dgm:pt>
    <dgm:pt modelId="{69985BF2-823A-4BE6-BC21-15A5C1FD27B9}" type="pres">
      <dgm:prSet presAssocID="{3A319ED4-B0EE-4816-B9D0-6481591A9194}" presName="Composite" presStyleCnt="0"/>
      <dgm:spPr/>
    </dgm:pt>
    <dgm:pt modelId="{1C04890E-AE8F-4256-BB0B-CCF4491BF475}" type="pres">
      <dgm:prSet presAssocID="{3A319ED4-B0EE-4816-B9D0-6481591A9194}" presName="Picture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43" r="19807"/>
          <a:stretch/>
        </a:blipFill>
      </dgm:spPr>
      <dgm:extLst>
        <a:ext uri="{E40237B7-FDA0-4F09-8148-C483321AD2D9}">
          <dgm14:cNvPr xmlns:dgm14="http://schemas.microsoft.com/office/drawing/2010/diagram" id="0" name="" descr="穩定性與穩定性數位概念。"/>
        </a:ext>
      </dgm:extLst>
    </dgm:pt>
    <dgm:pt modelId="{4DB351B8-E360-499D-82FC-C027E6A52916}" type="pres">
      <dgm:prSet presAssocID="{3A319ED4-B0EE-4816-B9D0-6481591A9194}" presName="Subtitle" presStyleLbl="revTx" presStyleIdx="2" presStyleCnt="6">
        <dgm:presLayoutVars>
          <dgm:chMax val="0"/>
          <dgm:bulletEnabled/>
        </dgm:presLayoutVars>
      </dgm:prSet>
      <dgm:spPr/>
    </dgm:pt>
    <dgm:pt modelId="{9CB4F677-1E53-45A2-9622-4A5A694C460F}" type="pres">
      <dgm:prSet presAssocID="{3A319ED4-B0EE-4816-B9D0-6481591A9194}" presName="Description" presStyleLbl="revTx" presStyleIdx="3" presStyleCnt="6">
        <dgm:presLayoutVars>
          <dgm:bulletEnabled/>
        </dgm:presLayoutVars>
      </dgm:prSet>
      <dgm:spPr/>
    </dgm:pt>
    <dgm:pt modelId="{ECF0FEE0-86F4-4D0F-8BD4-EC2FDFF9B3B9}" type="pres">
      <dgm:prSet presAssocID="{2BC5E4A0-A417-4E72-A401-8DFB7AD8F585}" presName="sibTrans" presStyleLbl="sibTrans2D1" presStyleIdx="0" presStyleCnt="0"/>
      <dgm:spPr/>
    </dgm:pt>
    <dgm:pt modelId="{E62EB4D4-07ED-42C2-8F9C-5554D1168102}" type="pres">
      <dgm:prSet presAssocID="{149BD86F-A3FA-434D-A88F-CE2F525FA685}" presName="Composite" presStyleCnt="0"/>
      <dgm:spPr/>
    </dgm:pt>
    <dgm:pt modelId="{1F55B215-911E-47D3-84E8-205CD9FE6E36}" type="pres">
      <dgm:prSet presAssocID="{149BD86F-A3FA-434D-A88F-CE2F525FA685}" presName="Picture" presStyleLbl="nod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2" r="26484" b="-7"/>
          <a:stretch/>
        </a:blipFill>
      </dgm:spPr>
      <dgm:extLst>
        <a:ext uri="{E40237B7-FDA0-4F09-8148-C483321AD2D9}">
          <dgm14:cNvPr xmlns:dgm14="http://schemas.microsoft.com/office/drawing/2010/diagram" id="0" name="" descr="待售花盆選擇"/>
        </a:ext>
      </dgm:extLst>
    </dgm:pt>
    <dgm:pt modelId="{2D179C74-6AEB-4872-8053-DF26FC0E67CC}" type="pres">
      <dgm:prSet presAssocID="{149BD86F-A3FA-434D-A88F-CE2F525FA685}" presName="Subtitle" presStyleLbl="revTx" presStyleIdx="4" presStyleCnt="6">
        <dgm:presLayoutVars>
          <dgm:chMax val="0"/>
          <dgm:bulletEnabled/>
        </dgm:presLayoutVars>
      </dgm:prSet>
      <dgm:spPr/>
    </dgm:pt>
    <dgm:pt modelId="{F2EA68CA-8947-4E04-B775-211104538D78}" type="pres">
      <dgm:prSet presAssocID="{149BD86F-A3FA-434D-A88F-CE2F525FA685}" presName="Description" presStyleLbl="revTx" presStyleIdx="5" presStyleCnt="6">
        <dgm:presLayoutVars>
          <dgm:bulletEnabled/>
        </dgm:presLayoutVars>
      </dgm:prSet>
      <dgm:spPr/>
    </dgm:pt>
  </dgm:ptLst>
  <dgm:cxnLst>
    <dgm:cxn modelId="{AE674E00-49AF-4602-AD27-D383FDF204ED}" type="presOf" srcId="{72557649-FD2B-407A-A480-801268F8617C}" destId="{E5571225-99FA-4ADD-9B5F-392435C30F30}" srcOrd="0" destOrd="0" presId="urn:microsoft.com/office/officeart/2024/3/layout/verticalVisualTextBlock1"/>
    <dgm:cxn modelId="{D2E1FA18-2162-4061-B662-AE93A124E263}" srcId="{3A319ED4-B0EE-4816-B9D0-6481591A9194}" destId="{B78C16C0-9A2A-4687-88D2-F6F8FC9E4105}" srcOrd="0" destOrd="0" parTransId="{5C13FD21-26FF-4C9E-8558-CF4887BC096A}" sibTransId="{A3CDAC28-BC09-4E4F-84FD-48043C96B490}"/>
    <dgm:cxn modelId="{66569E1B-36AF-4C0E-99D1-A8D227690FC2}" type="presOf" srcId="{B78C16C0-9A2A-4687-88D2-F6F8FC9E4105}" destId="{9CB4F677-1E53-45A2-9622-4A5A694C460F}" srcOrd="0" destOrd="0" presId="urn:microsoft.com/office/officeart/2024/3/layout/verticalVisualTextBlock1"/>
    <dgm:cxn modelId="{74DA4224-A4BD-46D5-B86D-BB7854193DF4}" type="presOf" srcId="{C168E86E-7F75-4737-9DE3-2A1DE803BE7F}" destId="{4DE3DC14-1F22-4619-A597-88E1E927F8D2}" srcOrd="0" destOrd="0" presId="urn:microsoft.com/office/officeart/2024/3/layout/verticalVisualTextBlock1"/>
    <dgm:cxn modelId="{2FA88A27-A855-4583-B838-E8F8518BEC60}" type="presOf" srcId="{149BD86F-A3FA-434D-A88F-CE2F525FA685}" destId="{2D179C74-6AEB-4872-8053-DF26FC0E67CC}" srcOrd="0" destOrd="0" presId="urn:microsoft.com/office/officeart/2024/3/layout/verticalVisualTextBlock1"/>
    <dgm:cxn modelId="{B8D3133D-2B23-42A8-8345-DCC34F8D2A37}" srcId="{3237225C-5C68-4022-BC63-DD3D1098B5AE}" destId="{A171E38C-26A3-4AB2-9A67-903F7E99B7CF}" srcOrd="0" destOrd="0" parTransId="{E368D5A0-D385-4E9F-93F8-58476BE55162}" sibTransId="{C168E86E-7F75-4737-9DE3-2A1DE803BE7F}"/>
    <dgm:cxn modelId="{C86EA960-D4FA-4779-8F80-20F0A7BFD72A}" srcId="{149BD86F-A3FA-434D-A88F-CE2F525FA685}" destId="{F31AA04A-7C53-48E6-8A2A-BA0EFCC36F9A}" srcOrd="0" destOrd="0" parTransId="{E9987B67-8684-4D70-9A36-FE8EBB4AF061}" sibTransId="{79183172-D5AE-48AC-8EDB-CD6872200D42}"/>
    <dgm:cxn modelId="{00DAA152-7AA5-4F53-8534-C716CCFC6D91}" srcId="{A171E38C-26A3-4AB2-9A67-903F7E99B7CF}" destId="{72557649-FD2B-407A-A480-801268F8617C}" srcOrd="0" destOrd="0" parTransId="{A665C85C-15A2-4EE6-A66A-A89FC87BC3E2}" sibTransId="{3EF73B92-2C31-4F9B-9547-D66C931F4FC4}"/>
    <dgm:cxn modelId="{CAE99C97-3B06-43C2-9655-132C5F8E2DBF}" type="presOf" srcId="{3A319ED4-B0EE-4816-B9D0-6481591A9194}" destId="{4DB351B8-E360-499D-82FC-C027E6A52916}" srcOrd="0" destOrd="0" presId="urn:microsoft.com/office/officeart/2024/3/layout/verticalVisualTextBlock1"/>
    <dgm:cxn modelId="{C7EBBC9F-0C2E-41A0-8D42-9998D781BBFA}" srcId="{3237225C-5C68-4022-BC63-DD3D1098B5AE}" destId="{149BD86F-A3FA-434D-A88F-CE2F525FA685}" srcOrd="2" destOrd="0" parTransId="{D2368015-770E-4F01-94D8-35896D2BABE1}" sibTransId="{EE9CF110-D17E-4C3A-989D-489B2DCB7356}"/>
    <dgm:cxn modelId="{94FF57BA-39AA-4792-A42A-7A09FE366C58}" type="presOf" srcId="{2BC5E4A0-A417-4E72-A401-8DFB7AD8F585}" destId="{ECF0FEE0-86F4-4D0F-8BD4-EC2FDFF9B3B9}" srcOrd="0" destOrd="0" presId="urn:microsoft.com/office/officeart/2024/3/layout/verticalVisualTextBlock1"/>
    <dgm:cxn modelId="{CEE5C5C7-63F0-4CF4-839E-727021BF0192}" type="presOf" srcId="{A171E38C-26A3-4AB2-9A67-903F7E99B7CF}" destId="{ACA44AA9-2C44-4773-8717-DD04F7E3EAEA}" srcOrd="0" destOrd="0" presId="urn:microsoft.com/office/officeart/2024/3/layout/verticalVisualTextBlock1"/>
    <dgm:cxn modelId="{54723ACD-04E8-49F3-8DED-67CE24B9DE15}" type="presOf" srcId="{F31AA04A-7C53-48E6-8A2A-BA0EFCC36F9A}" destId="{F2EA68CA-8947-4E04-B775-211104538D78}" srcOrd="0" destOrd="0" presId="urn:microsoft.com/office/officeart/2024/3/layout/verticalVisualTextBlock1"/>
    <dgm:cxn modelId="{CEB58EDF-A5FD-40B8-89C1-2E6AE67A7CC4}" type="presOf" srcId="{3237225C-5C68-4022-BC63-DD3D1098B5AE}" destId="{D38786D1-0B71-4A79-93EC-744B60F0A9A0}" srcOrd="0" destOrd="0" presId="urn:microsoft.com/office/officeart/2024/3/layout/verticalVisualTextBlock1"/>
    <dgm:cxn modelId="{B73A15F2-8ABE-43C6-9356-D9C13F2E5DE9}" srcId="{3237225C-5C68-4022-BC63-DD3D1098B5AE}" destId="{3A319ED4-B0EE-4816-B9D0-6481591A9194}" srcOrd="1" destOrd="0" parTransId="{D802D2A5-312D-4930-85E0-D7B108CCFFD8}" sibTransId="{2BC5E4A0-A417-4E72-A401-8DFB7AD8F585}"/>
    <dgm:cxn modelId="{5B740A13-8F20-4868-A524-E0F7CB995796}" type="presParOf" srcId="{D38786D1-0B71-4A79-93EC-744B60F0A9A0}" destId="{F79426F2-7BE8-4AC5-912A-5DEF1E0FEFA0}" srcOrd="0" destOrd="0" presId="urn:microsoft.com/office/officeart/2024/3/layout/verticalVisualTextBlock1"/>
    <dgm:cxn modelId="{724A8493-C749-43AA-8385-181E3E5491A5}" type="presParOf" srcId="{F79426F2-7BE8-4AC5-912A-5DEF1E0FEFA0}" destId="{50B0ED24-9755-4C10-9F36-076074C98955}" srcOrd="0" destOrd="0" presId="urn:microsoft.com/office/officeart/2024/3/layout/verticalVisualTextBlock1"/>
    <dgm:cxn modelId="{E7C69047-E30F-42EE-ADBC-00517204561D}" type="presParOf" srcId="{F79426F2-7BE8-4AC5-912A-5DEF1E0FEFA0}" destId="{ACA44AA9-2C44-4773-8717-DD04F7E3EAEA}" srcOrd="1" destOrd="0" presId="urn:microsoft.com/office/officeart/2024/3/layout/verticalVisualTextBlock1"/>
    <dgm:cxn modelId="{ECBBD1DC-D52B-4555-B115-67BB1C62FC7F}" type="presParOf" srcId="{F79426F2-7BE8-4AC5-912A-5DEF1E0FEFA0}" destId="{E5571225-99FA-4ADD-9B5F-392435C30F30}" srcOrd="2" destOrd="0" presId="urn:microsoft.com/office/officeart/2024/3/layout/verticalVisualTextBlock1"/>
    <dgm:cxn modelId="{8CCA7937-1F68-4014-B9B1-1D2EE90F4827}" type="presParOf" srcId="{D38786D1-0B71-4A79-93EC-744B60F0A9A0}" destId="{4DE3DC14-1F22-4619-A597-88E1E927F8D2}" srcOrd="1" destOrd="0" presId="urn:microsoft.com/office/officeart/2024/3/layout/verticalVisualTextBlock1"/>
    <dgm:cxn modelId="{85B0BAE1-4308-4F89-9F07-2AE9AAA6CCA7}" type="presParOf" srcId="{D38786D1-0B71-4A79-93EC-744B60F0A9A0}" destId="{69985BF2-823A-4BE6-BC21-15A5C1FD27B9}" srcOrd="2" destOrd="0" presId="urn:microsoft.com/office/officeart/2024/3/layout/verticalVisualTextBlock1"/>
    <dgm:cxn modelId="{CDA67649-25FE-4D63-B545-2EA561879F83}" type="presParOf" srcId="{69985BF2-823A-4BE6-BC21-15A5C1FD27B9}" destId="{1C04890E-AE8F-4256-BB0B-CCF4491BF475}" srcOrd="0" destOrd="0" presId="urn:microsoft.com/office/officeart/2024/3/layout/verticalVisualTextBlock1"/>
    <dgm:cxn modelId="{30BAA8DA-D286-4622-A065-2B4FCA3B7C79}" type="presParOf" srcId="{69985BF2-823A-4BE6-BC21-15A5C1FD27B9}" destId="{4DB351B8-E360-499D-82FC-C027E6A52916}" srcOrd="1" destOrd="0" presId="urn:microsoft.com/office/officeart/2024/3/layout/verticalVisualTextBlock1"/>
    <dgm:cxn modelId="{4484E6E1-5C3D-4173-8F39-587CB25C7A62}" type="presParOf" srcId="{69985BF2-823A-4BE6-BC21-15A5C1FD27B9}" destId="{9CB4F677-1E53-45A2-9622-4A5A694C460F}" srcOrd="2" destOrd="0" presId="urn:microsoft.com/office/officeart/2024/3/layout/verticalVisualTextBlock1"/>
    <dgm:cxn modelId="{C63D73CD-1581-46EC-AE04-BDDC3F4EDEDF}" type="presParOf" srcId="{D38786D1-0B71-4A79-93EC-744B60F0A9A0}" destId="{ECF0FEE0-86F4-4D0F-8BD4-EC2FDFF9B3B9}" srcOrd="3" destOrd="0" presId="urn:microsoft.com/office/officeart/2024/3/layout/verticalVisualTextBlock1"/>
    <dgm:cxn modelId="{71B18402-B497-4B11-9302-AFC0A6C47E6F}" type="presParOf" srcId="{D38786D1-0B71-4A79-93EC-744B60F0A9A0}" destId="{E62EB4D4-07ED-42C2-8F9C-5554D1168102}" srcOrd="4" destOrd="0" presId="urn:microsoft.com/office/officeart/2024/3/layout/verticalVisualTextBlock1"/>
    <dgm:cxn modelId="{03C55CC0-46B0-4129-9751-1C9D9B46AF0A}" type="presParOf" srcId="{E62EB4D4-07ED-42C2-8F9C-5554D1168102}" destId="{1F55B215-911E-47D3-84E8-205CD9FE6E36}" srcOrd="0" destOrd="0" presId="urn:microsoft.com/office/officeart/2024/3/layout/verticalVisualTextBlock1"/>
    <dgm:cxn modelId="{DAD2E60F-F52E-4EFD-8C42-1412D3410485}" type="presParOf" srcId="{E62EB4D4-07ED-42C2-8F9C-5554D1168102}" destId="{2D179C74-6AEB-4872-8053-DF26FC0E67CC}" srcOrd="1" destOrd="0" presId="urn:microsoft.com/office/officeart/2024/3/layout/verticalVisualTextBlock1"/>
    <dgm:cxn modelId="{C4CE2E9E-3179-4875-A0E5-6CF5F12751C0}" type="presParOf" srcId="{E62EB4D4-07ED-42C2-8F9C-5554D1168102}" destId="{F2EA68CA-8947-4E04-B775-211104538D78}" srcOrd="2" destOrd="0" presId="urn:microsoft.com/office/officeart/2024/3/layout/verticalVisualTextBlock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52C7B63-B322-4CA0-BE7A-BB22C6FB13E0}" type="doc">
      <dgm:prSet loTypeId="urn:microsoft.com/office/officeart/2024/3/layout/verticalVisualTextBlock1" loCatId="Picture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zh-TW" altLang="en-US"/>
        </a:p>
      </dgm:t>
    </dgm:pt>
    <dgm:pt modelId="{0A20893F-B95A-4741-8781-6555FA4F5F5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TW"/>
            <a:t>集結專長促進創新</a:t>
          </a:r>
        </a:p>
      </dgm:t>
    </dgm:pt>
    <dgm:pt modelId="{D68534A4-DB8A-4F9A-9A94-2DBEDAF79974}" type="parTrans" cxnId="{635B0AA4-CF51-452B-AE3C-94523FB42F28}">
      <dgm:prSet/>
      <dgm:spPr/>
      <dgm:t>
        <a:bodyPr/>
        <a:lstStyle/>
        <a:p>
          <a:endParaRPr lang="zh-TW" altLang="en-US"/>
        </a:p>
      </dgm:t>
    </dgm:pt>
    <dgm:pt modelId="{8DF2F252-240D-4E0C-9E5F-466E927C313B}" type="sibTrans" cxnId="{635B0AA4-CF51-452B-AE3C-94523FB42F28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zh-TW" altLang="en-US"/>
        </a:p>
      </dgm:t>
    </dgm:pt>
    <dgm:pt modelId="{0ED6E379-E816-4338-AA05-2C0DA1A0BF8A}">
      <dgm:prSet/>
      <dgm:spPr/>
      <dgm:t>
        <a:bodyPr/>
        <a:lstStyle/>
        <a:p>
          <a:pPr>
            <a:lnSpc>
              <a:spcPct val="100000"/>
            </a:lnSpc>
          </a:pPr>
          <a:r>
            <a:rPr lang="zh-TW"/>
            <a:t>與新創和專家攜手，能整合集體智慧，加速創新並擴大技術應用的規模。</a:t>
          </a:r>
        </a:p>
      </dgm:t>
    </dgm:pt>
    <dgm:pt modelId="{F317D86D-54FC-481C-8158-E999E1358C60}" type="parTrans" cxnId="{B7A22B97-2334-4833-93E5-E8EAD13AA1D0}">
      <dgm:prSet/>
      <dgm:spPr/>
      <dgm:t>
        <a:bodyPr/>
        <a:lstStyle/>
        <a:p>
          <a:endParaRPr lang="zh-TW" altLang="en-US"/>
        </a:p>
      </dgm:t>
    </dgm:pt>
    <dgm:pt modelId="{E5E54B36-057C-4247-9C4D-DBA828E17E3C}" type="sibTrans" cxnId="{B7A22B97-2334-4833-93E5-E8EAD13AA1D0}">
      <dgm:prSet/>
      <dgm:spPr/>
      <dgm:t>
        <a:bodyPr/>
        <a:lstStyle/>
        <a:p>
          <a:endParaRPr lang="zh-TW" altLang="en-US"/>
        </a:p>
      </dgm:t>
    </dgm:pt>
    <dgm:pt modelId="{F5740EA4-020D-4EA1-862F-77920B8F90E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TW"/>
            <a:t>分散風險提升穩定</a:t>
          </a:r>
        </a:p>
      </dgm:t>
    </dgm:pt>
    <dgm:pt modelId="{EF46E454-3B71-4AC7-A41A-AEA85F705599}" type="parTrans" cxnId="{3BB7D9FE-B66D-49CD-82A1-A721D3469EE0}">
      <dgm:prSet/>
      <dgm:spPr/>
      <dgm:t>
        <a:bodyPr/>
        <a:lstStyle/>
        <a:p>
          <a:endParaRPr lang="zh-TW" altLang="en-US"/>
        </a:p>
      </dgm:t>
    </dgm:pt>
    <dgm:pt modelId="{5C540B2D-8F67-49B3-9187-C55154C084C3}" type="sibTrans" cxnId="{3BB7D9FE-B66D-49CD-82A1-A721D3469EE0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zh-TW" altLang="en-US"/>
        </a:p>
      </dgm:t>
    </dgm:pt>
    <dgm:pt modelId="{19E67D91-8E53-4C5C-8124-E4DF9EE32E58}">
      <dgm:prSet/>
      <dgm:spPr/>
      <dgm:t>
        <a:bodyPr/>
        <a:lstStyle/>
        <a:p>
          <a:pPr>
            <a:lnSpc>
              <a:spcPct val="100000"/>
            </a:lnSpc>
          </a:pPr>
          <a:r>
            <a:rPr lang="zh-TW"/>
            <a:t>建立多元夥伴關係，有助於分攤經營風險，降低單一失敗帶來的衝擊。</a:t>
          </a:r>
        </a:p>
      </dgm:t>
    </dgm:pt>
    <dgm:pt modelId="{597EE9A8-DF9D-42CF-B074-6B7AA8466130}" type="parTrans" cxnId="{3C2FAAB3-1FDC-4D27-9CB3-4848C82A38E8}">
      <dgm:prSet/>
      <dgm:spPr/>
      <dgm:t>
        <a:bodyPr/>
        <a:lstStyle/>
        <a:p>
          <a:endParaRPr lang="zh-TW" altLang="en-US"/>
        </a:p>
      </dgm:t>
    </dgm:pt>
    <dgm:pt modelId="{86E728F3-B135-443C-9787-46CB7CD05FAD}" type="sibTrans" cxnId="{3C2FAAB3-1FDC-4D27-9CB3-4848C82A38E8}">
      <dgm:prSet/>
      <dgm:spPr/>
      <dgm:t>
        <a:bodyPr/>
        <a:lstStyle/>
        <a:p>
          <a:endParaRPr lang="zh-TW" altLang="en-US"/>
        </a:p>
      </dgm:t>
    </dgm:pt>
    <dgm:pt modelId="{3D32325E-216B-4026-BFBE-4E6CE6DAEA1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TW"/>
            <a:t>縮短上市時間</a:t>
          </a:r>
        </a:p>
      </dgm:t>
    </dgm:pt>
    <dgm:pt modelId="{948A74BD-2981-43AA-BE91-8CAE19252FFC}" type="parTrans" cxnId="{391A423A-33E6-488C-BAEB-D7903CFF6392}">
      <dgm:prSet/>
      <dgm:spPr/>
      <dgm:t>
        <a:bodyPr/>
        <a:lstStyle/>
        <a:p>
          <a:endParaRPr lang="zh-TW" altLang="en-US"/>
        </a:p>
      </dgm:t>
    </dgm:pt>
    <dgm:pt modelId="{8C0118D7-39EC-4673-A005-A1A7EC1D1F87}" type="sibTrans" cxnId="{391A423A-33E6-488C-BAEB-D7903CFF6392}">
      <dgm:prSet/>
      <dgm:spPr/>
      <dgm:t>
        <a:bodyPr/>
        <a:lstStyle/>
        <a:p>
          <a:endParaRPr lang="zh-TW" altLang="en-US"/>
        </a:p>
      </dgm:t>
    </dgm:pt>
    <dgm:pt modelId="{C84E335E-54DE-4965-A6EF-7EB737505212}">
      <dgm:prSet/>
      <dgm:spPr/>
      <dgm:t>
        <a:bodyPr/>
        <a:lstStyle/>
        <a:p>
          <a:pPr>
            <a:lnSpc>
              <a:spcPct val="100000"/>
            </a:lnSpc>
          </a:pPr>
          <a:r>
            <a:rPr lang="zh-TW"/>
            <a:t>協作可加速產品或服務開發，縮短上市時程，提升企業市場競爭力。</a:t>
          </a:r>
        </a:p>
      </dgm:t>
    </dgm:pt>
    <dgm:pt modelId="{AC108756-E5DB-4D56-8176-9DFF9D28D2F2}" type="parTrans" cxnId="{D6DD26EB-2941-4E6E-B44C-D441A3D9A9A2}">
      <dgm:prSet/>
      <dgm:spPr/>
      <dgm:t>
        <a:bodyPr/>
        <a:lstStyle/>
        <a:p>
          <a:endParaRPr lang="zh-TW" altLang="en-US"/>
        </a:p>
      </dgm:t>
    </dgm:pt>
    <dgm:pt modelId="{69F3715F-5D87-4169-9493-25D2BE582E56}" type="sibTrans" cxnId="{D6DD26EB-2941-4E6E-B44C-D441A3D9A9A2}">
      <dgm:prSet/>
      <dgm:spPr/>
      <dgm:t>
        <a:bodyPr/>
        <a:lstStyle/>
        <a:p>
          <a:endParaRPr lang="zh-TW" altLang="en-US"/>
        </a:p>
      </dgm:t>
    </dgm:pt>
    <dgm:pt modelId="{AD47C314-4064-45CA-B20E-6571EB88DFF8}" type="pres">
      <dgm:prSet presAssocID="{A52C7B63-B322-4CA0-BE7A-BB22C6FB13E0}" presName="Root" presStyleCnt="0">
        <dgm:presLayoutVars>
          <dgm:dir/>
          <dgm:resizeHandles val="exact"/>
        </dgm:presLayoutVars>
      </dgm:prSet>
      <dgm:spPr/>
    </dgm:pt>
    <dgm:pt modelId="{008973F9-2AE1-4E0D-809C-FF0D55589ACD}" type="pres">
      <dgm:prSet presAssocID="{0A20893F-B95A-4741-8781-6555FA4F5F55}" presName="Composite" presStyleCnt="0"/>
      <dgm:spPr/>
    </dgm:pt>
    <dgm:pt modelId="{B09BE6EA-0697-4461-AA05-661D6AD630D8}" type="pres">
      <dgm:prSet presAssocID="{0A20893F-B95A-4741-8781-6555FA4F5F55}" presName="Picture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01" r="15750" b="2"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辦公室裡的女性"/>
        </a:ext>
      </dgm:extLst>
    </dgm:pt>
    <dgm:pt modelId="{11183CD3-83D1-4AE3-9C85-AB804F1D14E4}" type="pres">
      <dgm:prSet presAssocID="{0A20893F-B95A-4741-8781-6555FA4F5F55}" presName="Subtitle" presStyleLbl="revTx" presStyleIdx="0" presStyleCnt="6">
        <dgm:presLayoutVars>
          <dgm:chMax val="0"/>
          <dgm:bulletEnabled/>
        </dgm:presLayoutVars>
      </dgm:prSet>
      <dgm:spPr/>
    </dgm:pt>
    <dgm:pt modelId="{5660EB83-B323-4E4C-933F-C90D9A59CFB1}" type="pres">
      <dgm:prSet presAssocID="{0A20893F-B95A-4741-8781-6555FA4F5F55}" presName="Description" presStyleLbl="revTx" presStyleIdx="1" presStyleCnt="6">
        <dgm:presLayoutVars>
          <dgm:bulletEnabled/>
        </dgm:presLayoutVars>
      </dgm:prSet>
      <dgm:spPr/>
    </dgm:pt>
    <dgm:pt modelId="{738BF580-CA7F-44A6-B1FB-69891DD774D5}" type="pres">
      <dgm:prSet presAssocID="{8DF2F252-240D-4E0C-9E5F-466E927C313B}" presName="sibTrans" presStyleLbl="sibTrans2D1" presStyleIdx="0" presStyleCnt="0"/>
      <dgm:spPr/>
    </dgm:pt>
    <dgm:pt modelId="{D29CBBCA-509F-41C5-9CE7-0E8601486B11}" type="pres">
      <dgm:prSet presAssocID="{F5740EA4-020D-4EA1-862F-77920B8F90E5}" presName="Composite" presStyleCnt="0"/>
      <dgm:spPr/>
    </dgm:pt>
    <dgm:pt modelId="{F5F5AC9E-7577-43E2-A16F-CD84301308EB}" type="pres">
      <dgm:prSet presAssocID="{F5740EA4-020D-4EA1-862F-77920B8F90E5}" presName="Picture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0" r="30117" b="-5"/>
          <a:stretch>
            <a:fillRect l="-29000" r="-29000"/>
          </a:stretch>
        </a:blipFill>
      </dgm:spPr>
      <dgm:extLst>
        <a:ext uri="{E40237B7-FDA0-4F09-8148-C483321AD2D9}">
          <dgm14:cNvPr xmlns:dgm14="http://schemas.microsoft.com/office/drawing/2010/diagram" id="0" name="" descr="商業團隊合作將拼圖拼湊起來。"/>
        </a:ext>
      </dgm:extLst>
    </dgm:pt>
    <dgm:pt modelId="{EF1DDD5C-F40B-49F2-AB86-A2C5E3B53724}" type="pres">
      <dgm:prSet presAssocID="{F5740EA4-020D-4EA1-862F-77920B8F90E5}" presName="Subtitle" presStyleLbl="revTx" presStyleIdx="2" presStyleCnt="6">
        <dgm:presLayoutVars>
          <dgm:chMax val="0"/>
          <dgm:bulletEnabled/>
        </dgm:presLayoutVars>
      </dgm:prSet>
      <dgm:spPr/>
    </dgm:pt>
    <dgm:pt modelId="{76D9D117-7C6C-48A7-A5D5-68F4477596F1}" type="pres">
      <dgm:prSet presAssocID="{F5740EA4-020D-4EA1-862F-77920B8F90E5}" presName="Description" presStyleLbl="revTx" presStyleIdx="3" presStyleCnt="6">
        <dgm:presLayoutVars>
          <dgm:bulletEnabled/>
        </dgm:presLayoutVars>
      </dgm:prSet>
      <dgm:spPr/>
    </dgm:pt>
    <dgm:pt modelId="{CB455291-D6CA-424A-930D-F141249C23A8}" type="pres">
      <dgm:prSet presAssocID="{5C540B2D-8F67-49B3-9187-C55154C084C3}" presName="sibTrans" presStyleLbl="sibTrans2D1" presStyleIdx="0" presStyleCnt="0"/>
      <dgm:spPr/>
    </dgm:pt>
    <dgm:pt modelId="{C990FF49-9338-46FB-BFEC-168AFB5F3E83}" type="pres">
      <dgm:prSet presAssocID="{3D32325E-216B-4026-BFBE-4E6CE6DAEA18}" presName="Composite" presStyleCnt="0"/>
      <dgm:spPr/>
    </dgm:pt>
    <dgm:pt modelId="{E41C42DE-3583-405D-A0A9-1EA57DAFDF1C}" type="pres">
      <dgm:prSet presAssocID="{3D32325E-216B-4026-BFBE-4E6CE6DAEA18}" presName="Picture" presStyleLbl="nod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65" r="11486" b="2"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開始變革決策 商業領導力火箭"/>
        </a:ext>
      </dgm:extLst>
    </dgm:pt>
    <dgm:pt modelId="{0F8FABE9-20E7-4E7E-91B4-AA97DFBC9655}" type="pres">
      <dgm:prSet presAssocID="{3D32325E-216B-4026-BFBE-4E6CE6DAEA18}" presName="Subtitle" presStyleLbl="revTx" presStyleIdx="4" presStyleCnt="6">
        <dgm:presLayoutVars>
          <dgm:chMax val="0"/>
          <dgm:bulletEnabled/>
        </dgm:presLayoutVars>
      </dgm:prSet>
      <dgm:spPr/>
    </dgm:pt>
    <dgm:pt modelId="{A016B5D4-4E86-41FD-B7D5-AF50A2FE9548}" type="pres">
      <dgm:prSet presAssocID="{3D32325E-216B-4026-BFBE-4E6CE6DAEA18}" presName="Description" presStyleLbl="revTx" presStyleIdx="5" presStyleCnt="6">
        <dgm:presLayoutVars>
          <dgm:bulletEnabled/>
        </dgm:presLayoutVars>
      </dgm:prSet>
      <dgm:spPr/>
    </dgm:pt>
  </dgm:ptLst>
  <dgm:cxnLst>
    <dgm:cxn modelId="{62E5D809-4DC1-4345-B046-BD632233A4FD}" type="presOf" srcId="{0ED6E379-E816-4338-AA05-2C0DA1A0BF8A}" destId="{5660EB83-B323-4E4C-933F-C90D9A59CFB1}" srcOrd="0" destOrd="0" presId="urn:microsoft.com/office/officeart/2024/3/layout/verticalVisualTextBlock1"/>
    <dgm:cxn modelId="{C6F48B0B-EF66-4EAD-90B5-602F62EE5B9F}" type="presOf" srcId="{5C540B2D-8F67-49B3-9187-C55154C084C3}" destId="{CB455291-D6CA-424A-930D-F141249C23A8}" srcOrd="0" destOrd="0" presId="urn:microsoft.com/office/officeart/2024/3/layout/verticalVisualTextBlock1"/>
    <dgm:cxn modelId="{391A423A-33E6-488C-BAEB-D7903CFF6392}" srcId="{A52C7B63-B322-4CA0-BE7A-BB22C6FB13E0}" destId="{3D32325E-216B-4026-BFBE-4E6CE6DAEA18}" srcOrd="2" destOrd="0" parTransId="{948A74BD-2981-43AA-BE91-8CAE19252FFC}" sibTransId="{8C0118D7-39EC-4673-A005-A1A7EC1D1F87}"/>
    <dgm:cxn modelId="{3DAA823F-4957-4C3B-898F-E3C5794A6BC9}" type="presOf" srcId="{C84E335E-54DE-4965-A6EF-7EB737505212}" destId="{A016B5D4-4E86-41FD-B7D5-AF50A2FE9548}" srcOrd="0" destOrd="0" presId="urn:microsoft.com/office/officeart/2024/3/layout/verticalVisualTextBlock1"/>
    <dgm:cxn modelId="{4E55316F-614E-4FE5-A57B-DEEB75EE8BC3}" type="presOf" srcId="{0A20893F-B95A-4741-8781-6555FA4F5F55}" destId="{11183CD3-83D1-4AE3-9C85-AB804F1D14E4}" srcOrd="0" destOrd="0" presId="urn:microsoft.com/office/officeart/2024/3/layout/verticalVisualTextBlock1"/>
    <dgm:cxn modelId="{BA052D56-3099-4DF5-BF8D-FA350E6AA446}" type="presOf" srcId="{3D32325E-216B-4026-BFBE-4E6CE6DAEA18}" destId="{0F8FABE9-20E7-4E7E-91B4-AA97DFBC9655}" srcOrd="0" destOrd="0" presId="urn:microsoft.com/office/officeart/2024/3/layout/verticalVisualTextBlock1"/>
    <dgm:cxn modelId="{E9062A92-FEC1-4C97-A81A-93A6628CAE6D}" type="presOf" srcId="{A52C7B63-B322-4CA0-BE7A-BB22C6FB13E0}" destId="{AD47C314-4064-45CA-B20E-6571EB88DFF8}" srcOrd="0" destOrd="0" presId="urn:microsoft.com/office/officeart/2024/3/layout/verticalVisualTextBlock1"/>
    <dgm:cxn modelId="{44D2A094-57D7-48C9-B7F2-E88EAC5D573E}" type="presOf" srcId="{19E67D91-8E53-4C5C-8124-E4DF9EE32E58}" destId="{76D9D117-7C6C-48A7-A5D5-68F4477596F1}" srcOrd="0" destOrd="0" presId="urn:microsoft.com/office/officeart/2024/3/layout/verticalVisualTextBlock1"/>
    <dgm:cxn modelId="{B7A22B97-2334-4833-93E5-E8EAD13AA1D0}" srcId="{0A20893F-B95A-4741-8781-6555FA4F5F55}" destId="{0ED6E379-E816-4338-AA05-2C0DA1A0BF8A}" srcOrd="0" destOrd="0" parTransId="{F317D86D-54FC-481C-8158-E999E1358C60}" sibTransId="{E5E54B36-057C-4247-9C4D-DBA828E17E3C}"/>
    <dgm:cxn modelId="{635B0AA4-CF51-452B-AE3C-94523FB42F28}" srcId="{A52C7B63-B322-4CA0-BE7A-BB22C6FB13E0}" destId="{0A20893F-B95A-4741-8781-6555FA4F5F55}" srcOrd="0" destOrd="0" parTransId="{D68534A4-DB8A-4F9A-9A94-2DBEDAF79974}" sibTransId="{8DF2F252-240D-4E0C-9E5F-466E927C313B}"/>
    <dgm:cxn modelId="{3C2FAAB3-1FDC-4D27-9CB3-4848C82A38E8}" srcId="{F5740EA4-020D-4EA1-862F-77920B8F90E5}" destId="{19E67D91-8E53-4C5C-8124-E4DF9EE32E58}" srcOrd="0" destOrd="0" parTransId="{597EE9A8-DF9D-42CF-B074-6B7AA8466130}" sibTransId="{86E728F3-B135-443C-9787-46CB7CD05FAD}"/>
    <dgm:cxn modelId="{F7C43FBC-AC1D-4B1E-9A70-48DA02D1AD70}" type="presOf" srcId="{F5740EA4-020D-4EA1-862F-77920B8F90E5}" destId="{EF1DDD5C-F40B-49F2-AB86-A2C5E3B53724}" srcOrd="0" destOrd="0" presId="urn:microsoft.com/office/officeart/2024/3/layout/verticalVisualTextBlock1"/>
    <dgm:cxn modelId="{D6DD26EB-2941-4E6E-B44C-D441A3D9A9A2}" srcId="{3D32325E-216B-4026-BFBE-4E6CE6DAEA18}" destId="{C84E335E-54DE-4965-A6EF-7EB737505212}" srcOrd="0" destOrd="0" parTransId="{AC108756-E5DB-4D56-8176-9DFF9D28D2F2}" sibTransId="{69F3715F-5D87-4169-9493-25D2BE582E56}"/>
    <dgm:cxn modelId="{52383EF1-6F03-42A2-BB8F-8BFB987B2205}" type="presOf" srcId="{8DF2F252-240D-4E0C-9E5F-466E927C313B}" destId="{738BF580-CA7F-44A6-B1FB-69891DD774D5}" srcOrd="0" destOrd="0" presId="urn:microsoft.com/office/officeart/2024/3/layout/verticalVisualTextBlock1"/>
    <dgm:cxn modelId="{3BB7D9FE-B66D-49CD-82A1-A721D3469EE0}" srcId="{A52C7B63-B322-4CA0-BE7A-BB22C6FB13E0}" destId="{F5740EA4-020D-4EA1-862F-77920B8F90E5}" srcOrd="1" destOrd="0" parTransId="{EF46E454-3B71-4AC7-A41A-AEA85F705599}" sibTransId="{5C540B2D-8F67-49B3-9187-C55154C084C3}"/>
    <dgm:cxn modelId="{CBEB053C-2F87-4651-B9A1-D54B1D5E39A0}" type="presParOf" srcId="{AD47C314-4064-45CA-B20E-6571EB88DFF8}" destId="{008973F9-2AE1-4E0D-809C-FF0D55589ACD}" srcOrd="0" destOrd="0" presId="urn:microsoft.com/office/officeart/2024/3/layout/verticalVisualTextBlock1"/>
    <dgm:cxn modelId="{DEEB8B39-9198-477B-90DA-798E1D9B89F6}" type="presParOf" srcId="{008973F9-2AE1-4E0D-809C-FF0D55589ACD}" destId="{B09BE6EA-0697-4461-AA05-661D6AD630D8}" srcOrd="0" destOrd="0" presId="urn:microsoft.com/office/officeart/2024/3/layout/verticalVisualTextBlock1"/>
    <dgm:cxn modelId="{4B4A8993-0C3D-4D11-8F99-87D6331DA44B}" type="presParOf" srcId="{008973F9-2AE1-4E0D-809C-FF0D55589ACD}" destId="{11183CD3-83D1-4AE3-9C85-AB804F1D14E4}" srcOrd="1" destOrd="0" presId="urn:microsoft.com/office/officeart/2024/3/layout/verticalVisualTextBlock1"/>
    <dgm:cxn modelId="{A7FF3BD4-42CE-4965-8161-AC3B8606F7C9}" type="presParOf" srcId="{008973F9-2AE1-4E0D-809C-FF0D55589ACD}" destId="{5660EB83-B323-4E4C-933F-C90D9A59CFB1}" srcOrd="2" destOrd="0" presId="urn:microsoft.com/office/officeart/2024/3/layout/verticalVisualTextBlock1"/>
    <dgm:cxn modelId="{5D2F98F6-9361-4369-AF33-5242580391F2}" type="presParOf" srcId="{AD47C314-4064-45CA-B20E-6571EB88DFF8}" destId="{738BF580-CA7F-44A6-B1FB-69891DD774D5}" srcOrd="1" destOrd="0" presId="urn:microsoft.com/office/officeart/2024/3/layout/verticalVisualTextBlock1"/>
    <dgm:cxn modelId="{3E13E653-4723-4E53-9403-9CEEA9E09356}" type="presParOf" srcId="{AD47C314-4064-45CA-B20E-6571EB88DFF8}" destId="{D29CBBCA-509F-41C5-9CE7-0E8601486B11}" srcOrd="2" destOrd="0" presId="urn:microsoft.com/office/officeart/2024/3/layout/verticalVisualTextBlock1"/>
    <dgm:cxn modelId="{2F973837-C1E0-42F4-8AA2-0293323A92D3}" type="presParOf" srcId="{D29CBBCA-509F-41C5-9CE7-0E8601486B11}" destId="{F5F5AC9E-7577-43E2-A16F-CD84301308EB}" srcOrd="0" destOrd="0" presId="urn:microsoft.com/office/officeart/2024/3/layout/verticalVisualTextBlock1"/>
    <dgm:cxn modelId="{EE23F528-73CB-485C-AD49-D6A2C545ADF5}" type="presParOf" srcId="{D29CBBCA-509F-41C5-9CE7-0E8601486B11}" destId="{EF1DDD5C-F40B-49F2-AB86-A2C5E3B53724}" srcOrd="1" destOrd="0" presId="urn:microsoft.com/office/officeart/2024/3/layout/verticalVisualTextBlock1"/>
    <dgm:cxn modelId="{C4C5AE35-4016-43B4-8A42-27CA43E93EF1}" type="presParOf" srcId="{D29CBBCA-509F-41C5-9CE7-0E8601486B11}" destId="{76D9D117-7C6C-48A7-A5D5-68F4477596F1}" srcOrd="2" destOrd="0" presId="urn:microsoft.com/office/officeart/2024/3/layout/verticalVisualTextBlock1"/>
    <dgm:cxn modelId="{5DB2E3BB-3ADB-466B-B99A-FBE2F19C04FA}" type="presParOf" srcId="{AD47C314-4064-45CA-B20E-6571EB88DFF8}" destId="{CB455291-D6CA-424A-930D-F141249C23A8}" srcOrd="3" destOrd="0" presId="urn:microsoft.com/office/officeart/2024/3/layout/verticalVisualTextBlock1"/>
    <dgm:cxn modelId="{FA8B9EB9-F494-4188-9E4D-2655B5765CAD}" type="presParOf" srcId="{AD47C314-4064-45CA-B20E-6571EB88DFF8}" destId="{C990FF49-9338-46FB-BFEC-168AFB5F3E83}" srcOrd="4" destOrd="0" presId="urn:microsoft.com/office/officeart/2024/3/layout/verticalVisualTextBlock1"/>
    <dgm:cxn modelId="{C5A51442-2DC9-443C-962B-E4B615A8258B}" type="presParOf" srcId="{C990FF49-9338-46FB-BFEC-168AFB5F3E83}" destId="{E41C42DE-3583-405D-A0A9-1EA57DAFDF1C}" srcOrd="0" destOrd="0" presId="urn:microsoft.com/office/officeart/2024/3/layout/verticalVisualTextBlock1"/>
    <dgm:cxn modelId="{D77DD95B-8F16-48C9-A9E1-C887C9A4AC4F}" type="presParOf" srcId="{C990FF49-9338-46FB-BFEC-168AFB5F3E83}" destId="{0F8FABE9-20E7-4E7E-91B4-AA97DFBC9655}" srcOrd="1" destOrd="0" presId="urn:microsoft.com/office/officeart/2024/3/layout/verticalVisualTextBlock1"/>
    <dgm:cxn modelId="{14E88A06-6EF2-40F6-B2B2-68F754A0124F}" type="presParOf" srcId="{C990FF49-9338-46FB-BFEC-168AFB5F3E83}" destId="{A016B5D4-4E86-41FD-B7D5-AF50A2FE9548}" srcOrd="2" destOrd="0" presId="urn:microsoft.com/office/officeart/2024/3/layout/verticalVisualTextBlock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39AE573-76B1-41C8-9539-8123AEB45A90}" type="doc">
      <dgm:prSet loTypeId="urn:microsoft.com/office/officeart/2024/3/layout/verticalVisualTextBlock1" loCatId="Picture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zh-TW" altLang="en-US"/>
        </a:p>
      </dgm:t>
    </dgm:pt>
    <dgm:pt modelId="{2C18606F-5520-4A50-BF44-02FFEC187DA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TW"/>
            <a:t>IaaS市場份額提升</a:t>
          </a:r>
        </a:p>
      </dgm:t>
    </dgm:pt>
    <dgm:pt modelId="{B483D7D1-B451-45C5-8ABF-B72E3AA98B9F}" type="parTrans" cxnId="{601DAFC2-63AC-4A7D-9B53-D8938BC36C01}">
      <dgm:prSet/>
      <dgm:spPr/>
      <dgm:t>
        <a:bodyPr/>
        <a:lstStyle/>
        <a:p>
          <a:endParaRPr lang="zh-TW" altLang="en-US"/>
        </a:p>
      </dgm:t>
    </dgm:pt>
    <dgm:pt modelId="{BC67CADB-14F7-47BD-A3B3-F45DFA986A34}" type="sibTrans" cxnId="{601DAFC2-63AC-4A7D-9B53-D8938BC36C01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zh-TW" altLang="en-US"/>
        </a:p>
      </dgm:t>
    </dgm:pt>
    <dgm:pt modelId="{7D436E03-2CE7-4573-95FB-1ED9CC63515A}">
      <dgm:prSet/>
      <dgm:spPr/>
      <dgm:t>
        <a:bodyPr/>
        <a:lstStyle/>
        <a:p>
          <a:pPr>
            <a:lnSpc>
              <a:spcPct val="100000"/>
            </a:lnSpc>
          </a:pPr>
          <a:r>
            <a:rPr lang="zh-TW"/>
            <a:t>2024年Azure在IaaS市場佔有率達24%，僅次於競爭對手AWS，展現強勢競爭力。</a:t>
          </a:r>
        </a:p>
      </dgm:t>
    </dgm:pt>
    <dgm:pt modelId="{90CF5ACA-9032-420D-B7E3-179F2B69C452}" type="parTrans" cxnId="{8164B728-054D-4315-AFF9-CF53CB30126D}">
      <dgm:prSet/>
      <dgm:spPr/>
      <dgm:t>
        <a:bodyPr/>
        <a:lstStyle/>
        <a:p>
          <a:endParaRPr lang="zh-TW" altLang="en-US"/>
        </a:p>
      </dgm:t>
    </dgm:pt>
    <dgm:pt modelId="{E03F428C-F460-4340-97E2-0599F9DCFEA3}" type="sibTrans" cxnId="{8164B728-054D-4315-AFF9-CF53CB30126D}">
      <dgm:prSet/>
      <dgm:spPr/>
      <dgm:t>
        <a:bodyPr/>
        <a:lstStyle/>
        <a:p>
          <a:endParaRPr lang="zh-TW" altLang="en-US"/>
        </a:p>
      </dgm:t>
    </dgm:pt>
    <dgm:pt modelId="{90B4960B-6762-4BE0-B977-AE8B33E420C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TW"/>
            <a:t>Intelligent Cloud收入成長</a:t>
          </a:r>
        </a:p>
      </dgm:t>
    </dgm:pt>
    <dgm:pt modelId="{D2CE9A8A-2F1F-4977-A84F-86CB62B2CB8F}" type="parTrans" cxnId="{CB9A51FA-DB64-4721-A4BF-40180D5D7335}">
      <dgm:prSet/>
      <dgm:spPr/>
      <dgm:t>
        <a:bodyPr/>
        <a:lstStyle/>
        <a:p>
          <a:endParaRPr lang="zh-TW" altLang="en-US"/>
        </a:p>
      </dgm:t>
    </dgm:pt>
    <dgm:pt modelId="{AE3583D8-C7D8-420A-A75A-D634DA0B3ECA}" type="sibTrans" cxnId="{CB9A51FA-DB64-4721-A4BF-40180D5D7335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zh-TW" altLang="en-US"/>
        </a:p>
      </dgm:t>
    </dgm:pt>
    <dgm:pt modelId="{3D76BDE2-C100-4AEC-9001-966F8B46D801}">
      <dgm:prSet/>
      <dgm:spPr/>
      <dgm:t>
        <a:bodyPr/>
        <a:lstStyle/>
        <a:p>
          <a:pPr>
            <a:lnSpc>
              <a:spcPct val="100000"/>
            </a:lnSpc>
          </a:pPr>
          <a:r>
            <a:rPr lang="zh-TW"/>
            <a:t>2023年Intelligent Cloud收入達962億美元，年增率達17.7%，彰顯業績穩健成長動能。</a:t>
          </a:r>
        </a:p>
      </dgm:t>
    </dgm:pt>
    <dgm:pt modelId="{544426A9-5909-4E10-A3CB-9C2649EEC655}" type="parTrans" cxnId="{AC7BBADD-5B0F-4DD9-BCE3-D310CF700E5A}">
      <dgm:prSet/>
      <dgm:spPr/>
      <dgm:t>
        <a:bodyPr/>
        <a:lstStyle/>
        <a:p>
          <a:endParaRPr lang="zh-TW" altLang="en-US"/>
        </a:p>
      </dgm:t>
    </dgm:pt>
    <dgm:pt modelId="{4778CDBA-D875-49A7-9137-53EC2551CF4E}" type="sibTrans" cxnId="{AC7BBADD-5B0F-4DD9-BCE3-D310CF700E5A}">
      <dgm:prSet/>
      <dgm:spPr/>
      <dgm:t>
        <a:bodyPr/>
        <a:lstStyle/>
        <a:p>
          <a:endParaRPr lang="zh-TW" altLang="en-US"/>
        </a:p>
      </dgm:t>
    </dgm:pt>
    <dgm:pt modelId="{8FF0F247-96D6-4340-8714-C58D70B5C52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TW"/>
            <a:t>客戶基數持續擴大</a:t>
          </a:r>
        </a:p>
      </dgm:t>
    </dgm:pt>
    <dgm:pt modelId="{CAC4138B-1634-4334-85B7-3589CFC46D9B}" type="parTrans" cxnId="{DEB50215-706F-425E-BF01-539263788FBE}">
      <dgm:prSet/>
      <dgm:spPr/>
      <dgm:t>
        <a:bodyPr/>
        <a:lstStyle/>
        <a:p>
          <a:endParaRPr lang="zh-TW" altLang="en-US"/>
        </a:p>
      </dgm:t>
    </dgm:pt>
    <dgm:pt modelId="{010016E0-1783-4F76-BFBE-3B0EF94E4E62}" type="sibTrans" cxnId="{DEB50215-706F-425E-BF01-539263788FBE}">
      <dgm:prSet/>
      <dgm:spPr/>
      <dgm:t>
        <a:bodyPr/>
        <a:lstStyle/>
        <a:p>
          <a:endParaRPr lang="zh-TW" altLang="en-US"/>
        </a:p>
      </dgm:t>
    </dgm:pt>
    <dgm:pt modelId="{CCAD0319-FEA4-4BE1-957A-5C783799AE3E}">
      <dgm:prSet/>
      <dgm:spPr/>
      <dgm:t>
        <a:bodyPr/>
        <a:lstStyle/>
        <a:p>
          <a:pPr>
            <a:lnSpc>
              <a:spcPct val="100000"/>
            </a:lnSpc>
          </a:pPr>
          <a:r>
            <a:rPr lang="zh-TW"/>
            <a:t>2024年Azure客戶數較2023年成長約14%，總客戶達近35萬家，市場影響力不斷擴大。</a:t>
          </a:r>
        </a:p>
      </dgm:t>
    </dgm:pt>
    <dgm:pt modelId="{ED406313-4B98-4AF3-8E28-71CF5117610B}" type="parTrans" cxnId="{EAF9604B-B3CA-409F-821E-4420E118AC59}">
      <dgm:prSet/>
      <dgm:spPr/>
      <dgm:t>
        <a:bodyPr/>
        <a:lstStyle/>
        <a:p>
          <a:endParaRPr lang="zh-TW" altLang="en-US"/>
        </a:p>
      </dgm:t>
    </dgm:pt>
    <dgm:pt modelId="{07D02FCA-68CF-4407-82D9-A0A5B0F05353}" type="sibTrans" cxnId="{EAF9604B-B3CA-409F-821E-4420E118AC59}">
      <dgm:prSet/>
      <dgm:spPr/>
      <dgm:t>
        <a:bodyPr/>
        <a:lstStyle/>
        <a:p>
          <a:endParaRPr lang="zh-TW" altLang="en-US"/>
        </a:p>
      </dgm:t>
    </dgm:pt>
    <dgm:pt modelId="{7F971FD5-DE9E-4A38-B4C3-B2A002B12BA2}" type="pres">
      <dgm:prSet presAssocID="{439AE573-76B1-41C8-9539-8123AEB45A90}" presName="Root" presStyleCnt="0">
        <dgm:presLayoutVars>
          <dgm:dir/>
          <dgm:resizeHandles val="exact"/>
        </dgm:presLayoutVars>
      </dgm:prSet>
      <dgm:spPr/>
    </dgm:pt>
    <dgm:pt modelId="{FE82A638-CC3A-4944-BC1E-24D7F9045455}" type="pres">
      <dgm:prSet presAssocID="{2C18606F-5520-4A50-BF44-02FFEC187DAF}" presName="Composite" presStyleCnt="0"/>
      <dgm:spPr/>
    </dgm:pt>
    <dgm:pt modelId="{B78AA4AF-1C53-4EC2-AC03-2876824FF22C}" type="pres">
      <dgm:prSet presAssocID="{2C18606F-5520-4A50-BF44-02FFEC187DAF}" presName="Picture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1" r="26079"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雲端運算與電腦網路概念"/>
        </a:ext>
      </dgm:extLst>
    </dgm:pt>
    <dgm:pt modelId="{393F07AB-C164-412E-BC61-D830CB24D582}" type="pres">
      <dgm:prSet presAssocID="{2C18606F-5520-4A50-BF44-02FFEC187DAF}" presName="Subtitle" presStyleLbl="revTx" presStyleIdx="0" presStyleCnt="6">
        <dgm:presLayoutVars>
          <dgm:chMax val="0"/>
          <dgm:bulletEnabled/>
        </dgm:presLayoutVars>
      </dgm:prSet>
      <dgm:spPr/>
    </dgm:pt>
    <dgm:pt modelId="{646C522C-23D2-41C2-8051-F66F901AB57A}" type="pres">
      <dgm:prSet presAssocID="{2C18606F-5520-4A50-BF44-02FFEC187DAF}" presName="Description" presStyleLbl="revTx" presStyleIdx="1" presStyleCnt="6">
        <dgm:presLayoutVars>
          <dgm:bulletEnabled/>
        </dgm:presLayoutVars>
      </dgm:prSet>
      <dgm:spPr/>
    </dgm:pt>
    <dgm:pt modelId="{2EA16A11-B625-4DE3-936D-67AB3BC047F2}" type="pres">
      <dgm:prSet presAssocID="{BC67CADB-14F7-47BD-A3B3-F45DFA986A34}" presName="sibTrans" presStyleLbl="sibTrans2D1" presStyleIdx="0" presStyleCnt="0"/>
      <dgm:spPr/>
    </dgm:pt>
    <dgm:pt modelId="{865854BA-0D99-40BD-9248-13B575AA03AB}" type="pres">
      <dgm:prSet presAssocID="{90B4960B-6762-4BE0-B977-AE8B33E420CC}" presName="Composite" presStyleCnt="0"/>
      <dgm:spPr/>
    </dgm:pt>
    <dgm:pt modelId="{A081A587-6978-43AD-A327-656CC18FAA8C}" type="pres">
      <dgm:prSet presAssocID="{90B4960B-6762-4BE0-B977-AE8B33E420CC}" presName="Picture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0" r="5692" b="3"/>
          <a:stretch>
            <a:fillRect l="-17000" r="-17000"/>
          </a:stretch>
        </a:blipFill>
      </dgm:spPr>
      <dgm:extLst>
        <a:ext uri="{E40237B7-FDA0-4F09-8148-C483321AD2D9}">
          <dgm14:cNvPr xmlns:dgm14="http://schemas.microsoft.com/office/drawing/2010/diagram" id="0" name="" descr="雲端伺服器"/>
        </a:ext>
      </dgm:extLst>
    </dgm:pt>
    <dgm:pt modelId="{9D001EEF-7EB9-42D2-8918-618884F9ABB8}" type="pres">
      <dgm:prSet presAssocID="{90B4960B-6762-4BE0-B977-AE8B33E420CC}" presName="Subtitle" presStyleLbl="revTx" presStyleIdx="2" presStyleCnt="6">
        <dgm:presLayoutVars>
          <dgm:chMax val="0"/>
          <dgm:bulletEnabled/>
        </dgm:presLayoutVars>
      </dgm:prSet>
      <dgm:spPr/>
    </dgm:pt>
    <dgm:pt modelId="{462DE6A6-2356-4D5C-8F04-F9FD12272DB6}" type="pres">
      <dgm:prSet presAssocID="{90B4960B-6762-4BE0-B977-AE8B33E420CC}" presName="Description" presStyleLbl="revTx" presStyleIdx="3" presStyleCnt="6">
        <dgm:presLayoutVars>
          <dgm:bulletEnabled/>
        </dgm:presLayoutVars>
      </dgm:prSet>
      <dgm:spPr/>
    </dgm:pt>
    <dgm:pt modelId="{0E5D2240-F965-409A-80CA-36FDB8712167}" type="pres">
      <dgm:prSet presAssocID="{AE3583D8-C7D8-420A-A75A-D634DA0B3ECA}" presName="sibTrans" presStyleLbl="sibTrans2D1" presStyleIdx="0" presStyleCnt="0"/>
      <dgm:spPr/>
    </dgm:pt>
    <dgm:pt modelId="{C477B78C-A5C0-489B-A49B-2407C8A2CC94}" type="pres">
      <dgm:prSet presAssocID="{8FF0F247-96D6-4340-8714-C58D70B5C520}" presName="Composite" presStyleCnt="0"/>
      <dgm:spPr/>
    </dgm:pt>
    <dgm:pt modelId="{75BF4D62-C07B-4274-9618-FF53C9B04DF8}" type="pres">
      <dgm:prSet presAssocID="{8FF0F247-96D6-4340-8714-C58D70B5C520}" presName="Picture" presStyleLbl="nod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75" r="17672" b="-6"/>
          <a:stretch>
            <a:fillRect l="-39000" r="-39000"/>
          </a:stretch>
        </a:blipFill>
      </dgm:spPr>
      <dgm:extLst>
        <a:ext uri="{E40237B7-FDA0-4F09-8148-C483321AD2D9}">
          <dgm14:cNvPr xmlns:dgm14="http://schemas.microsoft.com/office/drawing/2010/diagram" id="0" name="" descr="透過網路連線穿越雲端"/>
        </a:ext>
      </dgm:extLst>
    </dgm:pt>
    <dgm:pt modelId="{E3E9FD54-9977-4B69-98E6-C15C9FB3C505}" type="pres">
      <dgm:prSet presAssocID="{8FF0F247-96D6-4340-8714-C58D70B5C520}" presName="Subtitle" presStyleLbl="revTx" presStyleIdx="4" presStyleCnt="6">
        <dgm:presLayoutVars>
          <dgm:chMax val="0"/>
          <dgm:bulletEnabled/>
        </dgm:presLayoutVars>
      </dgm:prSet>
      <dgm:spPr/>
    </dgm:pt>
    <dgm:pt modelId="{D588C8B3-72B6-4ED4-A4A8-8499D8F905EE}" type="pres">
      <dgm:prSet presAssocID="{8FF0F247-96D6-4340-8714-C58D70B5C520}" presName="Description" presStyleLbl="revTx" presStyleIdx="5" presStyleCnt="6">
        <dgm:presLayoutVars>
          <dgm:bulletEnabled/>
        </dgm:presLayoutVars>
      </dgm:prSet>
      <dgm:spPr/>
    </dgm:pt>
  </dgm:ptLst>
  <dgm:cxnLst>
    <dgm:cxn modelId="{A90D220B-2C56-4850-BC06-49061F2E0987}" type="presOf" srcId="{8FF0F247-96D6-4340-8714-C58D70B5C520}" destId="{E3E9FD54-9977-4B69-98E6-C15C9FB3C505}" srcOrd="0" destOrd="0" presId="urn:microsoft.com/office/officeart/2024/3/layout/verticalVisualTextBlock1"/>
    <dgm:cxn modelId="{DEB50215-706F-425E-BF01-539263788FBE}" srcId="{439AE573-76B1-41C8-9539-8123AEB45A90}" destId="{8FF0F247-96D6-4340-8714-C58D70B5C520}" srcOrd="2" destOrd="0" parTransId="{CAC4138B-1634-4334-85B7-3589CFC46D9B}" sibTransId="{010016E0-1783-4F76-BFBE-3B0EF94E4E62}"/>
    <dgm:cxn modelId="{8164B728-054D-4315-AFF9-CF53CB30126D}" srcId="{2C18606F-5520-4A50-BF44-02FFEC187DAF}" destId="{7D436E03-2CE7-4573-95FB-1ED9CC63515A}" srcOrd="0" destOrd="0" parTransId="{90CF5ACA-9032-420D-B7E3-179F2B69C452}" sibTransId="{E03F428C-F460-4340-97E2-0599F9DCFEA3}"/>
    <dgm:cxn modelId="{618D2D38-0BBE-4947-8E70-F2A7EA284319}" type="presOf" srcId="{439AE573-76B1-41C8-9539-8123AEB45A90}" destId="{7F971FD5-DE9E-4A38-B4C3-B2A002B12BA2}" srcOrd="0" destOrd="0" presId="urn:microsoft.com/office/officeart/2024/3/layout/verticalVisualTextBlock1"/>
    <dgm:cxn modelId="{EAF9604B-B3CA-409F-821E-4420E118AC59}" srcId="{8FF0F247-96D6-4340-8714-C58D70B5C520}" destId="{CCAD0319-FEA4-4BE1-957A-5C783799AE3E}" srcOrd="0" destOrd="0" parTransId="{ED406313-4B98-4AF3-8E28-71CF5117610B}" sibTransId="{07D02FCA-68CF-4407-82D9-A0A5B0F05353}"/>
    <dgm:cxn modelId="{229D2C4D-C3CD-42E2-8994-E500A3F016DC}" type="presOf" srcId="{AE3583D8-C7D8-420A-A75A-D634DA0B3ECA}" destId="{0E5D2240-F965-409A-80CA-36FDB8712167}" srcOrd="0" destOrd="0" presId="urn:microsoft.com/office/officeart/2024/3/layout/verticalVisualTextBlock1"/>
    <dgm:cxn modelId="{0E192175-C47C-41F3-A8B9-F75FF0CB9437}" type="presOf" srcId="{7D436E03-2CE7-4573-95FB-1ED9CC63515A}" destId="{646C522C-23D2-41C2-8051-F66F901AB57A}" srcOrd="0" destOrd="0" presId="urn:microsoft.com/office/officeart/2024/3/layout/verticalVisualTextBlock1"/>
    <dgm:cxn modelId="{81DCA255-150E-411E-B83C-9297D0A0103F}" type="presOf" srcId="{3D76BDE2-C100-4AEC-9001-966F8B46D801}" destId="{462DE6A6-2356-4D5C-8F04-F9FD12272DB6}" srcOrd="0" destOrd="0" presId="urn:microsoft.com/office/officeart/2024/3/layout/verticalVisualTextBlock1"/>
    <dgm:cxn modelId="{3BE9BA7A-21C5-446A-98E6-A1F3F7E09FE1}" type="presOf" srcId="{CCAD0319-FEA4-4BE1-957A-5C783799AE3E}" destId="{D588C8B3-72B6-4ED4-A4A8-8499D8F905EE}" srcOrd="0" destOrd="0" presId="urn:microsoft.com/office/officeart/2024/3/layout/verticalVisualTextBlock1"/>
    <dgm:cxn modelId="{EE23AFAB-FF6A-4C9F-B8EE-C620E1AA3111}" type="presOf" srcId="{BC67CADB-14F7-47BD-A3B3-F45DFA986A34}" destId="{2EA16A11-B625-4DE3-936D-67AB3BC047F2}" srcOrd="0" destOrd="0" presId="urn:microsoft.com/office/officeart/2024/3/layout/verticalVisualTextBlock1"/>
    <dgm:cxn modelId="{0E227DB6-BA45-4180-97B9-CF00A02144B3}" type="presOf" srcId="{2C18606F-5520-4A50-BF44-02FFEC187DAF}" destId="{393F07AB-C164-412E-BC61-D830CB24D582}" srcOrd="0" destOrd="0" presId="urn:microsoft.com/office/officeart/2024/3/layout/verticalVisualTextBlock1"/>
    <dgm:cxn modelId="{601DAFC2-63AC-4A7D-9B53-D8938BC36C01}" srcId="{439AE573-76B1-41C8-9539-8123AEB45A90}" destId="{2C18606F-5520-4A50-BF44-02FFEC187DAF}" srcOrd="0" destOrd="0" parTransId="{B483D7D1-B451-45C5-8ABF-B72E3AA98B9F}" sibTransId="{BC67CADB-14F7-47BD-A3B3-F45DFA986A34}"/>
    <dgm:cxn modelId="{AC7BBADD-5B0F-4DD9-BCE3-D310CF700E5A}" srcId="{90B4960B-6762-4BE0-B977-AE8B33E420CC}" destId="{3D76BDE2-C100-4AEC-9001-966F8B46D801}" srcOrd="0" destOrd="0" parTransId="{544426A9-5909-4E10-A3CB-9C2649EEC655}" sibTransId="{4778CDBA-D875-49A7-9137-53EC2551CF4E}"/>
    <dgm:cxn modelId="{91DA17E2-CFC4-4869-A3DA-8FE9647606A6}" type="presOf" srcId="{90B4960B-6762-4BE0-B977-AE8B33E420CC}" destId="{9D001EEF-7EB9-42D2-8918-618884F9ABB8}" srcOrd="0" destOrd="0" presId="urn:microsoft.com/office/officeart/2024/3/layout/verticalVisualTextBlock1"/>
    <dgm:cxn modelId="{CB9A51FA-DB64-4721-A4BF-40180D5D7335}" srcId="{439AE573-76B1-41C8-9539-8123AEB45A90}" destId="{90B4960B-6762-4BE0-B977-AE8B33E420CC}" srcOrd="1" destOrd="0" parTransId="{D2CE9A8A-2F1F-4977-A84F-86CB62B2CB8F}" sibTransId="{AE3583D8-C7D8-420A-A75A-D634DA0B3ECA}"/>
    <dgm:cxn modelId="{5074A329-0BF7-4D7F-A5D1-1A59454BF9F9}" type="presParOf" srcId="{7F971FD5-DE9E-4A38-B4C3-B2A002B12BA2}" destId="{FE82A638-CC3A-4944-BC1E-24D7F9045455}" srcOrd="0" destOrd="0" presId="urn:microsoft.com/office/officeart/2024/3/layout/verticalVisualTextBlock1"/>
    <dgm:cxn modelId="{C36D6FA1-2099-4BF9-BA07-B70A93CF2204}" type="presParOf" srcId="{FE82A638-CC3A-4944-BC1E-24D7F9045455}" destId="{B78AA4AF-1C53-4EC2-AC03-2876824FF22C}" srcOrd="0" destOrd="0" presId="urn:microsoft.com/office/officeart/2024/3/layout/verticalVisualTextBlock1"/>
    <dgm:cxn modelId="{9FEB783D-7511-4193-824C-BAC8F46C27E2}" type="presParOf" srcId="{FE82A638-CC3A-4944-BC1E-24D7F9045455}" destId="{393F07AB-C164-412E-BC61-D830CB24D582}" srcOrd="1" destOrd="0" presId="urn:microsoft.com/office/officeart/2024/3/layout/verticalVisualTextBlock1"/>
    <dgm:cxn modelId="{4ECC180E-D3B1-4597-A2C1-BAF248021956}" type="presParOf" srcId="{FE82A638-CC3A-4944-BC1E-24D7F9045455}" destId="{646C522C-23D2-41C2-8051-F66F901AB57A}" srcOrd="2" destOrd="0" presId="urn:microsoft.com/office/officeart/2024/3/layout/verticalVisualTextBlock1"/>
    <dgm:cxn modelId="{769405CA-E4E0-4536-A64E-C6D728CC9FFF}" type="presParOf" srcId="{7F971FD5-DE9E-4A38-B4C3-B2A002B12BA2}" destId="{2EA16A11-B625-4DE3-936D-67AB3BC047F2}" srcOrd="1" destOrd="0" presId="urn:microsoft.com/office/officeart/2024/3/layout/verticalVisualTextBlock1"/>
    <dgm:cxn modelId="{76D272FD-E1F0-4B36-81B4-3BFF123C249E}" type="presParOf" srcId="{7F971FD5-DE9E-4A38-B4C3-B2A002B12BA2}" destId="{865854BA-0D99-40BD-9248-13B575AA03AB}" srcOrd="2" destOrd="0" presId="urn:microsoft.com/office/officeart/2024/3/layout/verticalVisualTextBlock1"/>
    <dgm:cxn modelId="{93EC9602-B76A-4EDE-9F5C-8903C066764E}" type="presParOf" srcId="{865854BA-0D99-40BD-9248-13B575AA03AB}" destId="{A081A587-6978-43AD-A327-656CC18FAA8C}" srcOrd="0" destOrd="0" presId="urn:microsoft.com/office/officeart/2024/3/layout/verticalVisualTextBlock1"/>
    <dgm:cxn modelId="{87493E5F-C1E8-4CAC-8268-11ED507865A6}" type="presParOf" srcId="{865854BA-0D99-40BD-9248-13B575AA03AB}" destId="{9D001EEF-7EB9-42D2-8918-618884F9ABB8}" srcOrd="1" destOrd="0" presId="urn:microsoft.com/office/officeart/2024/3/layout/verticalVisualTextBlock1"/>
    <dgm:cxn modelId="{ADB4B2C3-6F95-44BA-97B6-E434B88FCF47}" type="presParOf" srcId="{865854BA-0D99-40BD-9248-13B575AA03AB}" destId="{462DE6A6-2356-4D5C-8F04-F9FD12272DB6}" srcOrd="2" destOrd="0" presId="urn:microsoft.com/office/officeart/2024/3/layout/verticalVisualTextBlock1"/>
    <dgm:cxn modelId="{447056AF-FF61-406B-977C-D7E2110B3BC5}" type="presParOf" srcId="{7F971FD5-DE9E-4A38-B4C3-B2A002B12BA2}" destId="{0E5D2240-F965-409A-80CA-36FDB8712167}" srcOrd="3" destOrd="0" presId="urn:microsoft.com/office/officeart/2024/3/layout/verticalVisualTextBlock1"/>
    <dgm:cxn modelId="{1710A166-B1AA-4E17-94A7-182D6BA4804D}" type="presParOf" srcId="{7F971FD5-DE9E-4A38-B4C3-B2A002B12BA2}" destId="{C477B78C-A5C0-489B-A49B-2407C8A2CC94}" srcOrd="4" destOrd="0" presId="urn:microsoft.com/office/officeart/2024/3/layout/verticalVisualTextBlock1"/>
    <dgm:cxn modelId="{14413EDA-16E7-4EB9-AD01-1511C18B95A7}" type="presParOf" srcId="{C477B78C-A5C0-489B-A49B-2407C8A2CC94}" destId="{75BF4D62-C07B-4274-9618-FF53C9B04DF8}" srcOrd="0" destOrd="0" presId="urn:microsoft.com/office/officeart/2024/3/layout/verticalVisualTextBlock1"/>
    <dgm:cxn modelId="{778F09B3-746C-4430-90F9-98EB6C2833B8}" type="presParOf" srcId="{C477B78C-A5C0-489B-A49B-2407C8A2CC94}" destId="{E3E9FD54-9977-4B69-98E6-C15C9FB3C505}" srcOrd="1" destOrd="0" presId="urn:microsoft.com/office/officeart/2024/3/layout/verticalVisualTextBlock1"/>
    <dgm:cxn modelId="{451479D3-B980-452A-AAFE-F1315D826F84}" type="presParOf" srcId="{C477B78C-A5C0-489B-A49B-2407C8A2CC94}" destId="{D588C8B3-72B6-4ED4-A4A8-8499D8F905EE}" srcOrd="2" destOrd="0" presId="urn:microsoft.com/office/officeart/2024/3/layout/verticalVisualTextBlock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EF8711-DE4D-4EAE-ADA9-42768B3D62C0}">
      <dsp:nvSpPr>
        <dsp:cNvPr id="0" name=""/>
        <dsp:cNvSpPr/>
      </dsp:nvSpPr>
      <dsp:spPr>
        <a:xfrm>
          <a:off x="0" y="0"/>
          <a:ext cx="1638960" cy="16389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26" r="9071" b="-4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267BFE5-A7F1-4F16-BAFD-09E8446A15A8}">
      <dsp:nvSpPr>
        <dsp:cNvPr id="0" name=""/>
        <dsp:cNvSpPr/>
      </dsp:nvSpPr>
      <dsp:spPr>
        <a:xfrm>
          <a:off x="1818960" y="0"/>
          <a:ext cx="4325807" cy="359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TW" altLang="en-US" sz="1800" kern="1200"/>
            <a:t>拖延造成競爭力下滑</a:t>
          </a:r>
        </a:p>
      </dsp:txBody>
      <dsp:txXfrm>
        <a:off x="1818960" y="0"/>
        <a:ext cx="4325807" cy="359699"/>
      </dsp:txXfrm>
    </dsp:sp>
    <dsp:sp modelId="{454F64F0-59E8-469D-868B-AEFA76FF61DC}">
      <dsp:nvSpPr>
        <dsp:cNvPr id="0" name=""/>
        <dsp:cNvSpPr/>
      </dsp:nvSpPr>
      <dsp:spPr>
        <a:xfrm>
          <a:off x="1818960" y="359699"/>
          <a:ext cx="4325807" cy="1279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/>
            <a:t>企業若僅維持現狀或拖延轉型，容易錯失市場機會並導致競爭力下降與風險提升。</a:t>
          </a:r>
        </a:p>
      </dsp:txBody>
      <dsp:txXfrm>
        <a:off x="1818960" y="359699"/>
        <a:ext cx="4325807" cy="1279261"/>
      </dsp:txXfrm>
    </dsp:sp>
    <dsp:sp modelId="{38D12CC9-30B0-421E-844B-148CD633873A}">
      <dsp:nvSpPr>
        <dsp:cNvPr id="0" name=""/>
        <dsp:cNvSpPr/>
      </dsp:nvSpPr>
      <dsp:spPr>
        <a:xfrm>
          <a:off x="0" y="1770077"/>
          <a:ext cx="1638960" cy="1638960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35" r="18111" b="-7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609CFDB-7027-4C46-972A-68610B9C643F}">
      <dsp:nvSpPr>
        <dsp:cNvPr id="0" name=""/>
        <dsp:cNvSpPr/>
      </dsp:nvSpPr>
      <dsp:spPr>
        <a:xfrm>
          <a:off x="1818960" y="1770077"/>
          <a:ext cx="4325807" cy="359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TW" altLang="en-US" sz="1800" kern="1200"/>
            <a:t>錯失數位變革教訓</a:t>
          </a:r>
        </a:p>
      </dsp:txBody>
      <dsp:txXfrm>
        <a:off x="1818960" y="1770077"/>
        <a:ext cx="4325807" cy="359699"/>
      </dsp:txXfrm>
    </dsp:sp>
    <dsp:sp modelId="{834D8BC6-6149-42CD-9AA9-E06B45B20EA8}">
      <dsp:nvSpPr>
        <dsp:cNvPr id="0" name=""/>
        <dsp:cNvSpPr/>
      </dsp:nvSpPr>
      <dsp:spPr>
        <a:xfrm>
          <a:off x="1818960" y="2129776"/>
          <a:ext cx="4325807" cy="1279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/>
            <a:t>Kodak</a:t>
          </a:r>
          <a:r>
            <a:rPr lang="zh-TW" altLang="en-US" sz="1400" kern="1200"/>
            <a:t>與</a:t>
          </a:r>
          <a:r>
            <a:rPr lang="en-US" altLang="zh-TW" sz="1400" kern="1200"/>
            <a:t>Blockbuster</a:t>
          </a:r>
          <a:r>
            <a:rPr lang="zh-TW" altLang="en-US" sz="1400" kern="1200"/>
            <a:t>未能及時轉型，成為錯失數位浪潮的經典反例，警示企業需積極調整。</a:t>
          </a:r>
        </a:p>
      </dsp:txBody>
      <dsp:txXfrm>
        <a:off x="1818960" y="2129776"/>
        <a:ext cx="4325807" cy="1279261"/>
      </dsp:txXfrm>
    </dsp:sp>
    <dsp:sp modelId="{90C2DB17-FE24-4D64-832F-F00D8DA2B0D1}">
      <dsp:nvSpPr>
        <dsp:cNvPr id="0" name=""/>
        <dsp:cNvSpPr/>
      </dsp:nvSpPr>
      <dsp:spPr>
        <a:xfrm>
          <a:off x="0" y="3540154"/>
          <a:ext cx="1638960" cy="16389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" b="24997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0D5F7AC-1DD5-4374-A666-B6EF4D2FB38D}">
      <dsp:nvSpPr>
        <dsp:cNvPr id="0" name=""/>
        <dsp:cNvSpPr/>
      </dsp:nvSpPr>
      <dsp:spPr>
        <a:xfrm>
          <a:off x="1818960" y="3540154"/>
          <a:ext cx="4325807" cy="359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TW" altLang="en-US" sz="1800" kern="1200"/>
            <a:t>整體策略編排核心</a:t>
          </a:r>
        </a:p>
      </dsp:txBody>
      <dsp:txXfrm>
        <a:off x="1818960" y="3540154"/>
        <a:ext cx="4325807" cy="359699"/>
      </dsp:txXfrm>
    </dsp:sp>
    <dsp:sp modelId="{977C8A10-6593-47C4-8A80-6E1ED129C286}">
      <dsp:nvSpPr>
        <dsp:cNvPr id="0" name=""/>
        <dsp:cNvSpPr/>
      </dsp:nvSpPr>
      <dsp:spPr>
        <a:xfrm>
          <a:off x="1818960" y="3899854"/>
          <a:ext cx="4325807" cy="1279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/>
            <a:t>企業轉型應以整體策略為核心，避免零散創新，才能長期維持競爭力和市場領先。</a:t>
          </a:r>
        </a:p>
      </dsp:txBody>
      <dsp:txXfrm>
        <a:off x="1818960" y="3899854"/>
        <a:ext cx="4325807" cy="12792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7590E0-82BB-4547-B83A-074C8382F36E}">
      <dsp:nvSpPr>
        <dsp:cNvPr id="0" name=""/>
        <dsp:cNvSpPr/>
      </dsp:nvSpPr>
      <dsp:spPr>
        <a:xfrm>
          <a:off x="0" y="0"/>
          <a:ext cx="1854553" cy="18545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54" r="29894" b="-4"/>
          <a:stretch>
            <a:fillRect l="-45000" r="-45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06F73A-E9A5-4701-BF09-229712E820B5}">
      <dsp:nvSpPr>
        <dsp:cNvPr id="0" name=""/>
        <dsp:cNvSpPr/>
      </dsp:nvSpPr>
      <dsp:spPr>
        <a:xfrm>
          <a:off x="2034553" y="0"/>
          <a:ext cx="4155226" cy="370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TW" altLang="en-US" sz="1800" kern="1200"/>
            <a:t>彈性組織結構</a:t>
          </a:r>
        </a:p>
      </dsp:txBody>
      <dsp:txXfrm>
        <a:off x="2034553" y="0"/>
        <a:ext cx="4155226" cy="370034"/>
      </dsp:txXfrm>
    </dsp:sp>
    <dsp:sp modelId="{1298446B-C8BC-45B7-8470-0F3F7D769CD3}">
      <dsp:nvSpPr>
        <dsp:cNvPr id="0" name=""/>
        <dsp:cNvSpPr/>
      </dsp:nvSpPr>
      <dsp:spPr>
        <a:xfrm>
          <a:off x="2034553" y="370034"/>
          <a:ext cx="4155226" cy="1484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/>
            <a:t>敏捷轉型要求組織結構具有彈性，角色能根據業務需求靈活調整，提升應變能力。</a:t>
          </a:r>
        </a:p>
      </dsp:txBody>
      <dsp:txXfrm>
        <a:off x="2034553" y="370034"/>
        <a:ext cx="4155226" cy="1484518"/>
      </dsp:txXfrm>
    </dsp:sp>
    <dsp:sp modelId="{DF1370B9-BDDC-4300-8F93-A94B29B447A6}">
      <dsp:nvSpPr>
        <dsp:cNvPr id="0" name=""/>
        <dsp:cNvSpPr/>
      </dsp:nvSpPr>
      <dsp:spPr>
        <a:xfrm>
          <a:off x="0" y="2002917"/>
          <a:ext cx="1854553" cy="1854553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70" r="18926" b="-6"/>
          <a:stretch>
            <a:fillRect l="-26000" r="-26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B7EE858-4D85-4225-A2D6-BC15E4DBDBBE}">
      <dsp:nvSpPr>
        <dsp:cNvPr id="0" name=""/>
        <dsp:cNvSpPr/>
      </dsp:nvSpPr>
      <dsp:spPr>
        <a:xfrm>
          <a:off x="2034553" y="2002917"/>
          <a:ext cx="4155226" cy="370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TW" altLang="en-US" sz="1800" kern="1200"/>
            <a:t>流程持續優化</a:t>
          </a:r>
        </a:p>
      </dsp:txBody>
      <dsp:txXfrm>
        <a:off x="2034553" y="2002917"/>
        <a:ext cx="4155226" cy="370034"/>
      </dsp:txXfrm>
    </dsp:sp>
    <dsp:sp modelId="{4DCB9586-B53E-41C2-8754-AAC87FD2B911}">
      <dsp:nvSpPr>
        <dsp:cNvPr id="0" name=""/>
        <dsp:cNvSpPr/>
      </dsp:nvSpPr>
      <dsp:spPr>
        <a:xfrm>
          <a:off x="2034553" y="2372952"/>
          <a:ext cx="4155226" cy="1484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/>
            <a:t>工作流程必須不斷迭代與優化，以因應快速變化的市場與需求。</a:t>
          </a:r>
        </a:p>
      </dsp:txBody>
      <dsp:txXfrm>
        <a:off x="2034553" y="2372952"/>
        <a:ext cx="4155226" cy="1484518"/>
      </dsp:txXfrm>
    </dsp:sp>
    <dsp:sp modelId="{23D40F9C-6F4E-4EC3-99DF-A5BC8DF1C3C5}">
      <dsp:nvSpPr>
        <dsp:cNvPr id="0" name=""/>
        <dsp:cNvSpPr/>
      </dsp:nvSpPr>
      <dsp:spPr>
        <a:xfrm>
          <a:off x="0" y="4005834"/>
          <a:ext cx="1854553" cy="18545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2" r="13847"/>
          <a:stretch>
            <a:fillRect l="-25000" r="-25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08BADB-BC34-4BDE-9566-B56DC47F6DAF}">
      <dsp:nvSpPr>
        <dsp:cNvPr id="0" name=""/>
        <dsp:cNvSpPr/>
      </dsp:nvSpPr>
      <dsp:spPr>
        <a:xfrm>
          <a:off x="2034553" y="4005834"/>
          <a:ext cx="4155226" cy="370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TW" altLang="en-US" sz="1800" kern="1200"/>
            <a:t>試點與里程碑管理</a:t>
          </a:r>
        </a:p>
      </dsp:txBody>
      <dsp:txXfrm>
        <a:off x="2034553" y="4005834"/>
        <a:ext cx="4155226" cy="370034"/>
      </dsp:txXfrm>
    </dsp:sp>
    <dsp:sp modelId="{56AF3EBC-1AA6-4777-B31C-10DEC215BF5D}">
      <dsp:nvSpPr>
        <dsp:cNvPr id="0" name=""/>
        <dsp:cNvSpPr/>
      </dsp:nvSpPr>
      <dsp:spPr>
        <a:xfrm>
          <a:off x="2034553" y="4375869"/>
          <a:ext cx="4155226" cy="1484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/>
            <a:t>從小規模試點開始，設定清晰門檻與里程碑，有效掌握推動進度，確保轉型順利落地。</a:t>
          </a:r>
        </a:p>
      </dsp:txBody>
      <dsp:txXfrm>
        <a:off x="2034553" y="4375869"/>
        <a:ext cx="4155226" cy="14845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1D8537-F150-4228-866D-4847AB38E12B}">
      <dsp:nvSpPr>
        <dsp:cNvPr id="0" name=""/>
        <dsp:cNvSpPr/>
      </dsp:nvSpPr>
      <dsp:spPr>
        <a:xfrm>
          <a:off x="0" y="0"/>
          <a:ext cx="1854553" cy="18545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4" r="25427" b="2"/>
          <a:stretch>
            <a:fillRect l="-25000" r="-25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CB4AEF-7D11-4A67-859F-70F11B09FA65}">
      <dsp:nvSpPr>
        <dsp:cNvPr id="0" name=""/>
        <dsp:cNvSpPr/>
      </dsp:nvSpPr>
      <dsp:spPr>
        <a:xfrm>
          <a:off x="2034553" y="0"/>
          <a:ext cx="4155226" cy="370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TW" altLang="en-US" sz="1800" kern="1200"/>
            <a:t>重視利害關係人回饋</a:t>
          </a:r>
        </a:p>
      </dsp:txBody>
      <dsp:txXfrm>
        <a:off x="2034553" y="0"/>
        <a:ext cx="4155226" cy="370034"/>
      </dsp:txXfrm>
    </dsp:sp>
    <dsp:sp modelId="{2E7A8892-507E-4A83-8175-8CEB32FB4836}">
      <dsp:nvSpPr>
        <dsp:cNvPr id="0" name=""/>
        <dsp:cNvSpPr/>
      </dsp:nvSpPr>
      <dsp:spPr>
        <a:xfrm>
          <a:off x="2034553" y="370034"/>
          <a:ext cx="4155226" cy="1484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/>
            <a:t>組織主動收集並正視顧問、研究者及董事會等外部利害關係人的回饋，有助於調整策略方向。</a:t>
          </a:r>
        </a:p>
      </dsp:txBody>
      <dsp:txXfrm>
        <a:off x="2034553" y="370034"/>
        <a:ext cx="4155226" cy="1484518"/>
      </dsp:txXfrm>
    </dsp:sp>
    <dsp:sp modelId="{ADFFD35E-C39B-4EA6-9655-6CFB4D0BADF2}">
      <dsp:nvSpPr>
        <dsp:cNvPr id="0" name=""/>
        <dsp:cNvSpPr/>
      </dsp:nvSpPr>
      <dsp:spPr>
        <a:xfrm>
          <a:off x="0" y="2002917"/>
          <a:ext cx="1854553" cy="1854553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8" r="25483" b="2"/>
          <a:stretch>
            <a:fillRect l="-25000" r="-25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8EE8CD1-7843-4F2F-BF47-75F451970A95}">
      <dsp:nvSpPr>
        <dsp:cNvPr id="0" name=""/>
        <dsp:cNvSpPr/>
      </dsp:nvSpPr>
      <dsp:spPr>
        <a:xfrm>
          <a:off x="2034553" y="2002917"/>
          <a:ext cx="4155226" cy="370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TW" altLang="en-US" sz="1800" kern="1200"/>
            <a:t>建立持續傾聽機制</a:t>
          </a:r>
        </a:p>
      </dsp:txBody>
      <dsp:txXfrm>
        <a:off x="2034553" y="2002917"/>
        <a:ext cx="4155226" cy="370034"/>
      </dsp:txXfrm>
    </dsp:sp>
    <dsp:sp modelId="{21315201-8779-463E-8466-B39FACECE6DC}">
      <dsp:nvSpPr>
        <dsp:cNvPr id="0" name=""/>
        <dsp:cNvSpPr/>
      </dsp:nvSpPr>
      <dsp:spPr>
        <a:xfrm>
          <a:off x="2034553" y="2372952"/>
          <a:ext cx="4155226" cy="1484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/>
            <a:t>透過外部諮詢與開放式研討，組織能建立長期的傾聽與交流機制，促進資訊流通。</a:t>
          </a:r>
        </a:p>
      </dsp:txBody>
      <dsp:txXfrm>
        <a:off x="2034553" y="2372952"/>
        <a:ext cx="4155226" cy="1484518"/>
      </dsp:txXfrm>
    </dsp:sp>
    <dsp:sp modelId="{359B0FD8-7321-4216-865E-71347D16E4E1}">
      <dsp:nvSpPr>
        <dsp:cNvPr id="0" name=""/>
        <dsp:cNvSpPr/>
      </dsp:nvSpPr>
      <dsp:spPr>
        <a:xfrm>
          <a:off x="0" y="4005834"/>
          <a:ext cx="1854553" cy="18545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5" r="18057" b="2"/>
          <a:stretch>
            <a:fillRect l="-25000" r="-25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9DEB8C6-0A21-4D3A-9A85-97F49C47C022}">
      <dsp:nvSpPr>
        <dsp:cNvPr id="0" name=""/>
        <dsp:cNvSpPr/>
      </dsp:nvSpPr>
      <dsp:spPr>
        <a:xfrm>
          <a:off x="2034553" y="4005834"/>
          <a:ext cx="4155226" cy="370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TW" altLang="en-US" sz="1800" kern="1200"/>
            <a:t>促進決策優化與競爭力</a:t>
          </a:r>
        </a:p>
      </dsp:txBody>
      <dsp:txXfrm>
        <a:off x="2034553" y="4005834"/>
        <a:ext cx="4155226" cy="370034"/>
      </dsp:txXfrm>
    </dsp:sp>
    <dsp:sp modelId="{17EC3FF7-3FFF-48CA-A7D5-740D032CC523}">
      <dsp:nvSpPr>
        <dsp:cNvPr id="0" name=""/>
        <dsp:cNvSpPr/>
      </dsp:nvSpPr>
      <dsp:spPr>
        <a:xfrm>
          <a:off x="2034553" y="4375869"/>
          <a:ext cx="4155226" cy="1484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/>
            <a:t>開放性提高決策與管理效率，使組織不斷優化並提升整體競爭力。</a:t>
          </a:r>
        </a:p>
      </dsp:txBody>
      <dsp:txXfrm>
        <a:off x="2034553" y="4375869"/>
        <a:ext cx="4155226" cy="14845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2FFBCB-37F9-4937-B9B3-E21CBB773CA9}">
      <dsp:nvSpPr>
        <dsp:cNvPr id="0" name=""/>
        <dsp:cNvSpPr/>
      </dsp:nvSpPr>
      <dsp:spPr>
        <a:xfrm>
          <a:off x="0" y="0"/>
          <a:ext cx="1638960" cy="16389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04" r="7192" b="-6"/>
          <a:stretch>
            <a:fillRect l="-15000" r="-15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8DD3F91-A98C-4931-8E4E-E87471BBE5FB}">
      <dsp:nvSpPr>
        <dsp:cNvPr id="0" name=""/>
        <dsp:cNvSpPr/>
      </dsp:nvSpPr>
      <dsp:spPr>
        <a:xfrm>
          <a:off x="1818960" y="0"/>
          <a:ext cx="4325807" cy="359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TW" altLang="en-US" sz="1800" kern="1200"/>
            <a:t>文化重塑</a:t>
          </a:r>
        </a:p>
      </dsp:txBody>
      <dsp:txXfrm>
        <a:off x="1818960" y="0"/>
        <a:ext cx="4325807" cy="359699"/>
      </dsp:txXfrm>
    </dsp:sp>
    <dsp:sp modelId="{7878A0B7-4DCD-4CEA-94FC-63158E3039D2}">
      <dsp:nvSpPr>
        <dsp:cNvPr id="0" name=""/>
        <dsp:cNvSpPr/>
      </dsp:nvSpPr>
      <dsp:spPr>
        <a:xfrm>
          <a:off x="1818960" y="359699"/>
          <a:ext cx="4325807" cy="1279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/>
            <a:t>企業文化的重塑是轉型的核心，促使員工共同接受新理念與價值觀，提升凝聚力。</a:t>
          </a:r>
        </a:p>
      </dsp:txBody>
      <dsp:txXfrm>
        <a:off x="1818960" y="359699"/>
        <a:ext cx="4325807" cy="1279261"/>
      </dsp:txXfrm>
    </dsp:sp>
    <dsp:sp modelId="{54DD078D-4578-4D90-9D5F-3E58936A7025}">
      <dsp:nvSpPr>
        <dsp:cNvPr id="0" name=""/>
        <dsp:cNvSpPr/>
      </dsp:nvSpPr>
      <dsp:spPr>
        <a:xfrm>
          <a:off x="0" y="1770077"/>
          <a:ext cx="1638960" cy="1638960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5" r="22957" b="4"/>
          <a:stretch>
            <a:fillRect l="-25000" r="-25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DAD49AE-EBA4-403A-951E-00F655F54A46}">
      <dsp:nvSpPr>
        <dsp:cNvPr id="0" name=""/>
        <dsp:cNvSpPr/>
      </dsp:nvSpPr>
      <dsp:spPr>
        <a:xfrm>
          <a:off x="1818960" y="1770077"/>
          <a:ext cx="4325807" cy="359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TW" altLang="en-US" sz="1800" kern="1200"/>
            <a:t>能力培養</a:t>
          </a:r>
        </a:p>
      </dsp:txBody>
      <dsp:txXfrm>
        <a:off x="1818960" y="1770077"/>
        <a:ext cx="4325807" cy="359699"/>
      </dsp:txXfrm>
    </dsp:sp>
    <dsp:sp modelId="{AED03CB1-9626-4A72-ACC8-84387AC09F68}">
      <dsp:nvSpPr>
        <dsp:cNvPr id="0" name=""/>
        <dsp:cNvSpPr/>
      </dsp:nvSpPr>
      <dsp:spPr>
        <a:xfrm>
          <a:off x="1818960" y="2129776"/>
          <a:ext cx="4325807" cy="1279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/>
            <a:t>員工能力的培養需與企業策略同步推進，持續強化專業技能以因應未來挑戰。</a:t>
          </a:r>
        </a:p>
      </dsp:txBody>
      <dsp:txXfrm>
        <a:off x="1818960" y="2129776"/>
        <a:ext cx="4325807" cy="1279261"/>
      </dsp:txXfrm>
    </dsp:sp>
    <dsp:sp modelId="{4FFCD696-2A22-4893-8308-AE8854D53B7D}">
      <dsp:nvSpPr>
        <dsp:cNvPr id="0" name=""/>
        <dsp:cNvSpPr/>
      </dsp:nvSpPr>
      <dsp:spPr>
        <a:xfrm>
          <a:off x="0" y="3540154"/>
          <a:ext cx="1638960" cy="16389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10" r="16635" b="-7"/>
          <a:stretch>
            <a:fillRect l="-25000" r="-25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4EF706B-51BF-4F3A-AD68-19BC250F2C41}">
      <dsp:nvSpPr>
        <dsp:cNvPr id="0" name=""/>
        <dsp:cNvSpPr/>
      </dsp:nvSpPr>
      <dsp:spPr>
        <a:xfrm>
          <a:off x="1818960" y="3540154"/>
          <a:ext cx="4325807" cy="359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TW" altLang="en-US" sz="1800" kern="1200"/>
            <a:t>組織結構調整</a:t>
          </a:r>
        </a:p>
      </dsp:txBody>
      <dsp:txXfrm>
        <a:off x="1818960" y="3540154"/>
        <a:ext cx="4325807" cy="359699"/>
      </dsp:txXfrm>
    </dsp:sp>
    <dsp:sp modelId="{DAA45C1D-1446-4C01-81BA-99EDF8E372EF}">
      <dsp:nvSpPr>
        <dsp:cNvPr id="0" name=""/>
        <dsp:cNvSpPr/>
      </dsp:nvSpPr>
      <dsp:spPr>
        <a:xfrm>
          <a:off x="1818960" y="3899854"/>
          <a:ext cx="4325807" cy="1279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/>
            <a:t>組織需靈活調整結構，確保新技術和能力能有效融入企業運作，提升整體效率。</a:t>
          </a:r>
        </a:p>
      </dsp:txBody>
      <dsp:txXfrm>
        <a:off x="1818960" y="3899854"/>
        <a:ext cx="4325807" cy="127926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B0ED24-9755-4C10-9F36-076074C98955}">
      <dsp:nvSpPr>
        <dsp:cNvPr id="0" name=""/>
        <dsp:cNvSpPr/>
      </dsp:nvSpPr>
      <dsp:spPr>
        <a:xfrm>
          <a:off x="0" y="0"/>
          <a:ext cx="1638960" cy="16389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6" r="20029" b="-7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CA44AA9-2C44-4773-8717-DD04F7E3EAEA}">
      <dsp:nvSpPr>
        <dsp:cNvPr id="0" name=""/>
        <dsp:cNvSpPr/>
      </dsp:nvSpPr>
      <dsp:spPr>
        <a:xfrm>
          <a:off x="1818960" y="0"/>
          <a:ext cx="4325807" cy="359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TW" altLang="en-US" sz="1800" kern="1200"/>
            <a:t>避免表面變革</a:t>
          </a:r>
        </a:p>
      </dsp:txBody>
      <dsp:txXfrm>
        <a:off x="1818960" y="0"/>
        <a:ext cx="4325807" cy="359699"/>
      </dsp:txXfrm>
    </dsp:sp>
    <dsp:sp modelId="{E5571225-99FA-4ADD-9B5F-392435C30F30}">
      <dsp:nvSpPr>
        <dsp:cNvPr id="0" name=""/>
        <dsp:cNvSpPr/>
      </dsp:nvSpPr>
      <dsp:spPr>
        <a:xfrm>
          <a:off x="1818960" y="359699"/>
          <a:ext cx="4325807" cy="1279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/>
            <a:t>將轉型視為短暫事件，僅產生表面改變，無法帶來長遠成效。</a:t>
          </a:r>
        </a:p>
      </dsp:txBody>
      <dsp:txXfrm>
        <a:off x="1818960" y="359699"/>
        <a:ext cx="4325807" cy="1279261"/>
      </dsp:txXfrm>
    </dsp:sp>
    <dsp:sp modelId="{1C04890E-AE8F-4256-BB0B-CCF4491BF475}">
      <dsp:nvSpPr>
        <dsp:cNvPr id="0" name=""/>
        <dsp:cNvSpPr/>
      </dsp:nvSpPr>
      <dsp:spPr>
        <a:xfrm>
          <a:off x="0" y="1770077"/>
          <a:ext cx="1638960" cy="1638960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43" r="19807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DB351B8-E360-499D-82FC-C027E6A52916}">
      <dsp:nvSpPr>
        <dsp:cNvPr id="0" name=""/>
        <dsp:cNvSpPr/>
      </dsp:nvSpPr>
      <dsp:spPr>
        <a:xfrm>
          <a:off x="1818960" y="1770077"/>
          <a:ext cx="4325807" cy="359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TW" altLang="en-US" sz="1800" kern="1200"/>
            <a:t>文化停滯的風險</a:t>
          </a:r>
        </a:p>
      </dsp:txBody>
      <dsp:txXfrm>
        <a:off x="1818960" y="1770077"/>
        <a:ext cx="4325807" cy="359699"/>
      </dsp:txXfrm>
    </dsp:sp>
    <dsp:sp modelId="{9CB4F677-1E53-45A2-9622-4A5A694C460F}">
      <dsp:nvSpPr>
        <dsp:cNvPr id="0" name=""/>
        <dsp:cNvSpPr/>
      </dsp:nvSpPr>
      <dsp:spPr>
        <a:xfrm>
          <a:off x="1818960" y="2129776"/>
          <a:ext cx="4325807" cy="1279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/>
            <a:t>社會文化的停滯會拖慢技術革新與創新落地的速度。</a:t>
          </a:r>
        </a:p>
      </dsp:txBody>
      <dsp:txXfrm>
        <a:off x="1818960" y="2129776"/>
        <a:ext cx="4325807" cy="1279261"/>
      </dsp:txXfrm>
    </dsp:sp>
    <dsp:sp modelId="{1F55B215-911E-47D3-84E8-205CD9FE6E36}">
      <dsp:nvSpPr>
        <dsp:cNvPr id="0" name=""/>
        <dsp:cNvSpPr/>
      </dsp:nvSpPr>
      <dsp:spPr>
        <a:xfrm>
          <a:off x="0" y="3540154"/>
          <a:ext cx="1638960" cy="16389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2" r="26484" b="-7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D179C74-6AEB-4872-8053-DF26FC0E67CC}">
      <dsp:nvSpPr>
        <dsp:cNvPr id="0" name=""/>
        <dsp:cNvSpPr/>
      </dsp:nvSpPr>
      <dsp:spPr>
        <a:xfrm>
          <a:off x="1818960" y="3540154"/>
          <a:ext cx="4325807" cy="359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TW" altLang="en-US" sz="1800" kern="1200"/>
            <a:t>持續且深層的轉型</a:t>
          </a:r>
        </a:p>
      </dsp:txBody>
      <dsp:txXfrm>
        <a:off x="1818960" y="3540154"/>
        <a:ext cx="4325807" cy="359699"/>
      </dsp:txXfrm>
    </dsp:sp>
    <dsp:sp modelId="{F2EA68CA-8947-4E04-B775-211104538D78}">
      <dsp:nvSpPr>
        <dsp:cNvPr id="0" name=""/>
        <dsp:cNvSpPr/>
      </dsp:nvSpPr>
      <dsp:spPr>
        <a:xfrm>
          <a:off x="1818960" y="3899854"/>
          <a:ext cx="4325807" cy="1279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/>
            <a:t>真正的轉型需長期進行，涵蓋文化與制度層面的整合與創新。</a:t>
          </a:r>
        </a:p>
      </dsp:txBody>
      <dsp:txXfrm>
        <a:off x="1818960" y="3899854"/>
        <a:ext cx="4325807" cy="127926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9BE6EA-0697-4461-AA05-661D6AD630D8}">
      <dsp:nvSpPr>
        <dsp:cNvPr id="0" name=""/>
        <dsp:cNvSpPr/>
      </dsp:nvSpPr>
      <dsp:spPr>
        <a:xfrm>
          <a:off x="0" y="0"/>
          <a:ext cx="1854553" cy="18545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01" r="15750" b="2"/>
          <a:stretch>
            <a:fillRect l="-25000" r="-25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1183CD3-83D1-4AE3-9C85-AB804F1D14E4}">
      <dsp:nvSpPr>
        <dsp:cNvPr id="0" name=""/>
        <dsp:cNvSpPr/>
      </dsp:nvSpPr>
      <dsp:spPr>
        <a:xfrm>
          <a:off x="2034553" y="0"/>
          <a:ext cx="4155226" cy="370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TW" altLang="en-US" sz="1800" kern="1200"/>
            <a:t>集結專長促進創新</a:t>
          </a:r>
        </a:p>
      </dsp:txBody>
      <dsp:txXfrm>
        <a:off x="2034553" y="0"/>
        <a:ext cx="4155226" cy="370034"/>
      </dsp:txXfrm>
    </dsp:sp>
    <dsp:sp modelId="{5660EB83-B323-4E4C-933F-C90D9A59CFB1}">
      <dsp:nvSpPr>
        <dsp:cNvPr id="0" name=""/>
        <dsp:cNvSpPr/>
      </dsp:nvSpPr>
      <dsp:spPr>
        <a:xfrm>
          <a:off x="2034553" y="370034"/>
          <a:ext cx="4155226" cy="1484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/>
            <a:t>與新創和專家攜手，能整合集體智慧，加速創新並擴大技術應用的規模。</a:t>
          </a:r>
        </a:p>
      </dsp:txBody>
      <dsp:txXfrm>
        <a:off x="2034553" y="370034"/>
        <a:ext cx="4155226" cy="1484518"/>
      </dsp:txXfrm>
    </dsp:sp>
    <dsp:sp modelId="{F5F5AC9E-7577-43E2-A16F-CD84301308EB}">
      <dsp:nvSpPr>
        <dsp:cNvPr id="0" name=""/>
        <dsp:cNvSpPr/>
      </dsp:nvSpPr>
      <dsp:spPr>
        <a:xfrm>
          <a:off x="0" y="2002917"/>
          <a:ext cx="1854553" cy="1854553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0" r="30117" b="-5"/>
          <a:stretch>
            <a:fillRect l="-29000" r="-29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F1DDD5C-F40B-49F2-AB86-A2C5E3B53724}">
      <dsp:nvSpPr>
        <dsp:cNvPr id="0" name=""/>
        <dsp:cNvSpPr/>
      </dsp:nvSpPr>
      <dsp:spPr>
        <a:xfrm>
          <a:off x="2034553" y="2002917"/>
          <a:ext cx="4155226" cy="370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TW" altLang="en-US" sz="1800" kern="1200"/>
            <a:t>分散風險提升穩定</a:t>
          </a:r>
        </a:p>
      </dsp:txBody>
      <dsp:txXfrm>
        <a:off x="2034553" y="2002917"/>
        <a:ext cx="4155226" cy="370034"/>
      </dsp:txXfrm>
    </dsp:sp>
    <dsp:sp modelId="{76D9D117-7C6C-48A7-A5D5-68F4477596F1}">
      <dsp:nvSpPr>
        <dsp:cNvPr id="0" name=""/>
        <dsp:cNvSpPr/>
      </dsp:nvSpPr>
      <dsp:spPr>
        <a:xfrm>
          <a:off x="2034553" y="2372952"/>
          <a:ext cx="4155226" cy="1484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/>
            <a:t>建立多元夥伴關係，有助於分攤經營風險，降低單一失敗帶來的衝擊。</a:t>
          </a:r>
        </a:p>
      </dsp:txBody>
      <dsp:txXfrm>
        <a:off x="2034553" y="2372952"/>
        <a:ext cx="4155226" cy="1484518"/>
      </dsp:txXfrm>
    </dsp:sp>
    <dsp:sp modelId="{E41C42DE-3583-405D-A0A9-1EA57DAFDF1C}">
      <dsp:nvSpPr>
        <dsp:cNvPr id="0" name=""/>
        <dsp:cNvSpPr/>
      </dsp:nvSpPr>
      <dsp:spPr>
        <a:xfrm>
          <a:off x="0" y="4005834"/>
          <a:ext cx="1854553" cy="18545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65" r="11486" b="2"/>
          <a:stretch>
            <a:fillRect l="-25000" r="-25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8FABE9-20E7-4E7E-91B4-AA97DFBC9655}">
      <dsp:nvSpPr>
        <dsp:cNvPr id="0" name=""/>
        <dsp:cNvSpPr/>
      </dsp:nvSpPr>
      <dsp:spPr>
        <a:xfrm>
          <a:off x="2034553" y="4005834"/>
          <a:ext cx="4155226" cy="370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TW" altLang="en-US" sz="1800" kern="1200"/>
            <a:t>縮短上市時間</a:t>
          </a:r>
        </a:p>
      </dsp:txBody>
      <dsp:txXfrm>
        <a:off x="2034553" y="4005834"/>
        <a:ext cx="4155226" cy="370034"/>
      </dsp:txXfrm>
    </dsp:sp>
    <dsp:sp modelId="{A016B5D4-4E86-41FD-B7D5-AF50A2FE9548}">
      <dsp:nvSpPr>
        <dsp:cNvPr id="0" name=""/>
        <dsp:cNvSpPr/>
      </dsp:nvSpPr>
      <dsp:spPr>
        <a:xfrm>
          <a:off x="2034553" y="4375869"/>
          <a:ext cx="4155226" cy="1484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/>
            <a:t>協作可加速產品或服務開發，縮短上市時程，提升企業市場競爭力。</a:t>
          </a:r>
        </a:p>
      </dsp:txBody>
      <dsp:txXfrm>
        <a:off x="2034553" y="4375869"/>
        <a:ext cx="4155226" cy="148451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8AA4AF-1C53-4EC2-AC03-2876824FF22C}">
      <dsp:nvSpPr>
        <dsp:cNvPr id="0" name=""/>
        <dsp:cNvSpPr/>
      </dsp:nvSpPr>
      <dsp:spPr>
        <a:xfrm>
          <a:off x="0" y="0"/>
          <a:ext cx="1854553" cy="18545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1" r="26079"/>
          <a:stretch>
            <a:fillRect l="-25000" r="-25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93F07AB-C164-412E-BC61-D830CB24D582}">
      <dsp:nvSpPr>
        <dsp:cNvPr id="0" name=""/>
        <dsp:cNvSpPr/>
      </dsp:nvSpPr>
      <dsp:spPr>
        <a:xfrm>
          <a:off x="2034553" y="0"/>
          <a:ext cx="4155226" cy="370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altLang="zh-TW" sz="1800" kern="1200"/>
            <a:t>IaaS</a:t>
          </a:r>
          <a:r>
            <a:rPr lang="zh-TW" altLang="en-US" sz="1800" kern="1200"/>
            <a:t>市場份額提升</a:t>
          </a:r>
        </a:p>
      </dsp:txBody>
      <dsp:txXfrm>
        <a:off x="2034553" y="0"/>
        <a:ext cx="4155226" cy="370034"/>
      </dsp:txXfrm>
    </dsp:sp>
    <dsp:sp modelId="{646C522C-23D2-41C2-8051-F66F901AB57A}">
      <dsp:nvSpPr>
        <dsp:cNvPr id="0" name=""/>
        <dsp:cNvSpPr/>
      </dsp:nvSpPr>
      <dsp:spPr>
        <a:xfrm>
          <a:off x="2034553" y="370034"/>
          <a:ext cx="4155226" cy="1484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/>
            <a:t>2024</a:t>
          </a:r>
          <a:r>
            <a:rPr lang="zh-TW" altLang="en-US" sz="1400" kern="1200"/>
            <a:t>年</a:t>
          </a:r>
          <a:r>
            <a:rPr lang="en-US" altLang="zh-TW" sz="1400" kern="1200"/>
            <a:t>Azure</a:t>
          </a:r>
          <a:r>
            <a:rPr lang="zh-TW" altLang="en-US" sz="1400" kern="1200"/>
            <a:t>在</a:t>
          </a:r>
          <a:r>
            <a:rPr lang="en-US" altLang="zh-TW" sz="1400" kern="1200"/>
            <a:t>IaaS</a:t>
          </a:r>
          <a:r>
            <a:rPr lang="zh-TW" altLang="en-US" sz="1400" kern="1200"/>
            <a:t>市場佔有率達</a:t>
          </a:r>
          <a:r>
            <a:rPr lang="en-US" altLang="zh-TW" sz="1400" kern="1200"/>
            <a:t>24%</a:t>
          </a:r>
          <a:r>
            <a:rPr lang="zh-TW" altLang="en-US" sz="1400" kern="1200"/>
            <a:t>，僅次於競爭對手</a:t>
          </a:r>
          <a:r>
            <a:rPr lang="en-US" altLang="zh-TW" sz="1400" kern="1200"/>
            <a:t>AWS</a:t>
          </a:r>
          <a:r>
            <a:rPr lang="zh-TW" altLang="en-US" sz="1400" kern="1200"/>
            <a:t>，展現強勢競爭力。</a:t>
          </a:r>
        </a:p>
      </dsp:txBody>
      <dsp:txXfrm>
        <a:off x="2034553" y="370034"/>
        <a:ext cx="4155226" cy="1484518"/>
      </dsp:txXfrm>
    </dsp:sp>
    <dsp:sp modelId="{A081A587-6978-43AD-A327-656CC18FAA8C}">
      <dsp:nvSpPr>
        <dsp:cNvPr id="0" name=""/>
        <dsp:cNvSpPr/>
      </dsp:nvSpPr>
      <dsp:spPr>
        <a:xfrm>
          <a:off x="0" y="2002917"/>
          <a:ext cx="1854553" cy="1854553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0" r="5692" b="3"/>
          <a:stretch>
            <a:fillRect l="-17000" r="-17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D001EEF-7EB9-42D2-8918-618884F9ABB8}">
      <dsp:nvSpPr>
        <dsp:cNvPr id="0" name=""/>
        <dsp:cNvSpPr/>
      </dsp:nvSpPr>
      <dsp:spPr>
        <a:xfrm>
          <a:off x="2034553" y="2002917"/>
          <a:ext cx="4155226" cy="370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altLang="zh-TW" sz="1800" kern="1200"/>
            <a:t>Intelligent Cloud</a:t>
          </a:r>
          <a:r>
            <a:rPr lang="zh-TW" altLang="en-US" sz="1800" kern="1200"/>
            <a:t>收入成長</a:t>
          </a:r>
        </a:p>
      </dsp:txBody>
      <dsp:txXfrm>
        <a:off x="2034553" y="2002917"/>
        <a:ext cx="4155226" cy="370034"/>
      </dsp:txXfrm>
    </dsp:sp>
    <dsp:sp modelId="{462DE6A6-2356-4D5C-8F04-F9FD12272DB6}">
      <dsp:nvSpPr>
        <dsp:cNvPr id="0" name=""/>
        <dsp:cNvSpPr/>
      </dsp:nvSpPr>
      <dsp:spPr>
        <a:xfrm>
          <a:off x="2034553" y="2372952"/>
          <a:ext cx="4155226" cy="1484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/>
            <a:t>2023</a:t>
          </a:r>
          <a:r>
            <a:rPr lang="zh-TW" altLang="en-US" sz="1400" kern="1200"/>
            <a:t>年</a:t>
          </a:r>
          <a:r>
            <a:rPr lang="en-US" altLang="zh-TW" sz="1400" kern="1200"/>
            <a:t>Intelligent Cloud</a:t>
          </a:r>
          <a:r>
            <a:rPr lang="zh-TW" altLang="en-US" sz="1400" kern="1200"/>
            <a:t>收入達</a:t>
          </a:r>
          <a:r>
            <a:rPr lang="en-US" altLang="zh-TW" sz="1400" kern="1200"/>
            <a:t>962</a:t>
          </a:r>
          <a:r>
            <a:rPr lang="zh-TW" altLang="en-US" sz="1400" kern="1200"/>
            <a:t>億美元，年增率達</a:t>
          </a:r>
          <a:r>
            <a:rPr lang="en-US" altLang="zh-TW" sz="1400" kern="1200"/>
            <a:t>17.7%</a:t>
          </a:r>
          <a:r>
            <a:rPr lang="zh-TW" altLang="en-US" sz="1400" kern="1200"/>
            <a:t>，彰顯業績穩健成長動能。</a:t>
          </a:r>
        </a:p>
      </dsp:txBody>
      <dsp:txXfrm>
        <a:off x="2034553" y="2372952"/>
        <a:ext cx="4155226" cy="1484518"/>
      </dsp:txXfrm>
    </dsp:sp>
    <dsp:sp modelId="{75BF4D62-C07B-4274-9618-FF53C9B04DF8}">
      <dsp:nvSpPr>
        <dsp:cNvPr id="0" name=""/>
        <dsp:cNvSpPr/>
      </dsp:nvSpPr>
      <dsp:spPr>
        <a:xfrm>
          <a:off x="0" y="4005834"/>
          <a:ext cx="1854553" cy="18545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75" r="17672" b="-6"/>
          <a:stretch>
            <a:fillRect l="-39000" r="-39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3E9FD54-9977-4B69-98E6-C15C9FB3C505}">
      <dsp:nvSpPr>
        <dsp:cNvPr id="0" name=""/>
        <dsp:cNvSpPr/>
      </dsp:nvSpPr>
      <dsp:spPr>
        <a:xfrm>
          <a:off x="2034553" y="4005834"/>
          <a:ext cx="4155226" cy="370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TW" altLang="en-US" sz="1800" kern="1200"/>
            <a:t>客戶基數持續擴大</a:t>
          </a:r>
        </a:p>
      </dsp:txBody>
      <dsp:txXfrm>
        <a:off x="2034553" y="4005834"/>
        <a:ext cx="4155226" cy="370034"/>
      </dsp:txXfrm>
    </dsp:sp>
    <dsp:sp modelId="{D588C8B3-72B6-4ED4-A4A8-8499D8F905EE}">
      <dsp:nvSpPr>
        <dsp:cNvPr id="0" name=""/>
        <dsp:cNvSpPr/>
      </dsp:nvSpPr>
      <dsp:spPr>
        <a:xfrm>
          <a:off x="2034553" y="4375869"/>
          <a:ext cx="4155226" cy="1484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/>
            <a:t>2024</a:t>
          </a:r>
          <a:r>
            <a:rPr lang="zh-TW" altLang="en-US" sz="1400" kern="1200"/>
            <a:t>年</a:t>
          </a:r>
          <a:r>
            <a:rPr lang="en-US" altLang="zh-TW" sz="1400" kern="1200"/>
            <a:t>Azure</a:t>
          </a:r>
          <a:r>
            <a:rPr lang="zh-TW" altLang="en-US" sz="1400" kern="1200"/>
            <a:t>客戶數較</a:t>
          </a:r>
          <a:r>
            <a:rPr lang="en-US" altLang="zh-TW" sz="1400" kern="1200"/>
            <a:t>2023</a:t>
          </a:r>
          <a:r>
            <a:rPr lang="zh-TW" altLang="en-US" sz="1400" kern="1200"/>
            <a:t>年成長約</a:t>
          </a:r>
          <a:r>
            <a:rPr lang="en-US" altLang="zh-TW" sz="1400" kern="1200"/>
            <a:t>14%</a:t>
          </a:r>
          <a:r>
            <a:rPr lang="zh-TW" altLang="en-US" sz="1400" kern="1200"/>
            <a:t>，總客戶達近</a:t>
          </a:r>
          <a:r>
            <a:rPr lang="en-US" altLang="zh-TW" sz="1400" kern="1200"/>
            <a:t>35</a:t>
          </a:r>
          <a:r>
            <a:rPr lang="zh-TW" altLang="en-US" sz="1400" kern="1200"/>
            <a:t>萬家，市場影響力不斷擴大。</a:t>
          </a:r>
        </a:p>
      </dsp:txBody>
      <dsp:txXfrm>
        <a:off x="2034553" y="4375869"/>
        <a:ext cx="4155226" cy="14845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verticalVisualTextBlock1">
  <dgm:title val="Vertical Visual Text Blocks"/>
  <dgm:desc val="Pictures with short bits of text with formatted headers. Use as an easier-to-read alternative to a bulleted list."/>
  <dgm:catLst>
    <dgm:cat type="picture" pri="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Root">
    <dgm:varLst>
      <dgm:dir/>
      <dgm:resizeHandles val="exact"/>
    </dgm:varLst>
    <dgm:choose name="BasedOnLanguageDirection">
      <dgm:if name="LeftToRight" func="var" arg="dir" op="equ" val="norm">
        <dgm:alg type="lin">
          <dgm:param type="linDir" val="fromT"/>
          <dgm:param type="vertAlign" val="t"/>
          <dgm:param type="horzAlign" val="l"/>
        </dgm:alg>
      </dgm:if>
      <dgm:else name="RightToLeft">
        <dgm:alg type="lin">
          <dgm:param type="linDir" val="fromT"/>
          <dgm:param type="vertAlign" val="t"/>
          <dgm:param type="horzAlign" val="r"/>
        </dgm:alg>
      </dgm:else>
    </dgm:choose>
    <dgm:presOf/>
    <dgm:constrLst>
      <dgm:constr type="primFontSz" for="des" forName="Subtitle" op="equ" val="18"/>
      <dgm:constr type="primFontSz" for="des" forName="Description" refType="primFontSz" refFor="des" refForName="Subtitle" op="equ" fact="0.77"/>
      <dgm:constr type="w" for="ch" forName="Composite" refType="w"/>
      <dgm:constr type="h" for="ch" forName="Composite" refType="h"/>
      <dgm:constr type="h" for="ch" forName="sibTrans" refType="h" refFor="ch" refForName="Composite" fact="0.08"/>
      <dgm:constr type="sp" refType="w" refFor="ch" refForName="Composite" op="equ" fact="0.1"/>
    </dgm:constrLst>
    <dgm:ruleLst/>
    <dgm:forEach name="DirectChildrenOfRoot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Picture" refType="w" fact="0.335"/>
          <dgm:constr type="h" for="ch" forName="Picture" refType="w" refFor="ch" refForName="Picture" op="equ"/>
          <dgm:constr type="h" for="ch" forName="Picture" refType="h" op="lte"/>
          <dgm:constr type="l" for="ch" forName="Subtitle" refType="r" refFor="ch" refForName="Picture"/>
          <dgm:constr type="lOff" for="ch" forName="Subtitle" val="5"/>
          <dgm:constr type="h" for="ch" forName="Subtitle" refType="h" fact="0.1"/>
          <dgm:constr type="t" for="ch" forName="Description" refType="b" refFor="ch" refForName="Subtitle"/>
          <dgm:constr type="l" for="ch" forName="Description" refType="r" refFor="ch" refForName="Picture"/>
          <dgm:constr type="lOff" for="ch" forName="Description" val="5"/>
        </dgm:constrLst>
        <dgm:ruleLst/>
        <dgm:layoutNode name="Picture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ubtitle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SubtitleConstraintsBasedOnLanguageDirection">
            <dgm:if name="SubtitleIsLeftToRight" func="var" arg="dir" op="equ" val="norm">
              <dgm:constrLst>
                <dgm:constr type="h" refType="w" op="lte" fact="0.4"/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SubtitleIsRightToLeft">
              <dgm:constrLst>
                <dgm:constr type="h" refType="w" op="lte" fact="0.4"/>
                <dgm:constr type="rMarg"/>
                <dgm:constr type="lMarg" refType="primFontSz" fact="0.1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Description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DescriptionConstraintsBasedOnLanguageDirection">
            <dgm:if name="DescriptionIsLeftToRight" func="var" arg="dir" op="equ" val="norm">
              <dgm:constrLst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DescriptionIsRightToLeft">
              <dgm:constrLst>
                <dgm:constr type="lMarg" refType="primFontSz" fact="0.1"/>
                <dgm:constr type="rMarg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3/layout/verticalVisualTextBlock1">
  <dgm:title val="Vertical Visual Text Blocks"/>
  <dgm:desc val="Pictures with short bits of text with formatted headers. Use as an easier-to-read alternative to a bulleted list."/>
  <dgm:catLst>
    <dgm:cat type="picture" pri="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Root">
    <dgm:varLst>
      <dgm:dir/>
      <dgm:resizeHandles val="exact"/>
    </dgm:varLst>
    <dgm:choose name="BasedOnLanguageDirection">
      <dgm:if name="LeftToRight" func="var" arg="dir" op="equ" val="norm">
        <dgm:alg type="lin">
          <dgm:param type="linDir" val="fromT"/>
          <dgm:param type="vertAlign" val="t"/>
          <dgm:param type="horzAlign" val="l"/>
        </dgm:alg>
      </dgm:if>
      <dgm:else name="RightToLeft">
        <dgm:alg type="lin">
          <dgm:param type="linDir" val="fromT"/>
          <dgm:param type="vertAlign" val="t"/>
          <dgm:param type="horzAlign" val="r"/>
        </dgm:alg>
      </dgm:else>
    </dgm:choose>
    <dgm:presOf/>
    <dgm:constrLst>
      <dgm:constr type="primFontSz" for="des" forName="Subtitle" op="equ" val="18"/>
      <dgm:constr type="primFontSz" for="des" forName="Description" refType="primFontSz" refFor="des" refForName="Subtitle" op="equ" fact="0.77"/>
      <dgm:constr type="w" for="ch" forName="Composite" refType="w"/>
      <dgm:constr type="h" for="ch" forName="Composite" refType="h"/>
      <dgm:constr type="h" for="ch" forName="sibTrans" refType="h" refFor="ch" refForName="Composite" fact="0.08"/>
      <dgm:constr type="sp" refType="w" refFor="ch" refForName="Composite" op="equ" fact="0.1"/>
    </dgm:constrLst>
    <dgm:ruleLst/>
    <dgm:forEach name="DirectChildrenOfRoot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Picture" refType="w" fact="0.335"/>
          <dgm:constr type="h" for="ch" forName="Picture" refType="w" refFor="ch" refForName="Picture" op="equ"/>
          <dgm:constr type="h" for="ch" forName="Picture" refType="h" op="lte"/>
          <dgm:constr type="l" for="ch" forName="Subtitle" refType="r" refFor="ch" refForName="Picture"/>
          <dgm:constr type="lOff" for="ch" forName="Subtitle" val="5"/>
          <dgm:constr type="h" for="ch" forName="Subtitle" refType="h" fact="0.1"/>
          <dgm:constr type="t" for="ch" forName="Description" refType="b" refFor="ch" refForName="Subtitle"/>
          <dgm:constr type="l" for="ch" forName="Description" refType="r" refFor="ch" refForName="Picture"/>
          <dgm:constr type="lOff" for="ch" forName="Description" val="5"/>
        </dgm:constrLst>
        <dgm:ruleLst/>
        <dgm:layoutNode name="Picture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ubtitle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SubtitleConstraintsBasedOnLanguageDirection">
            <dgm:if name="SubtitleIsLeftToRight" func="var" arg="dir" op="equ" val="norm">
              <dgm:constrLst>
                <dgm:constr type="h" refType="w" op="lte" fact="0.4"/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SubtitleIsRightToLeft">
              <dgm:constrLst>
                <dgm:constr type="h" refType="w" op="lte" fact="0.4"/>
                <dgm:constr type="rMarg"/>
                <dgm:constr type="lMarg" refType="primFontSz" fact="0.1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Description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DescriptionConstraintsBasedOnLanguageDirection">
            <dgm:if name="DescriptionIsLeftToRight" func="var" arg="dir" op="equ" val="norm">
              <dgm:constrLst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DescriptionIsRightToLeft">
              <dgm:constrLst>
                <dgm:constr type="lMarg" refType="primFontSz" fact="0.1"/>
                <dgm:constr type="rMarg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24/3/layout/verticalVisualTextBlock1">
  <dgm:title val="Vertical Visual Text Blocks"/>
  <dgm:desc val="Pictures with short bits of text with formatted headers. Use as an easier-to-read alternative to a bulleted list."/>
  <dgm:catLst>
    <dgm:cat type="picture" pri="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Root">
    <dgm:varLst>
      <dgm:dir/>
      <dgm:resizeHandles val="exact"/>
    </dgm:varLst>
    <dgm:choose name="BasedOnLanguageDirection">
      <dgm:if name="LeftToRight" func="var" arg="dir" op="equ" val="norm">
        <dgm:alg type="lin">
          <dgm:param type="linDir" val="fromT"/>
          <dgm:param type="vertAlign" val="t"/>
          <dgm:param type="horzAlign" val="l"/>
        </dgm:alg>
      </dgm:if>
      <dgm:else name="RightToLeft">
        <dgm:alg type="lin">
          <dgm:param type="linDir" val="fromT"/>
          <dgm:param type="vertAlign" val="t"/>
          <dgm:param type="horzAlign" val="r"/>
        </dgm:alg>
      </dgm:else>
    </dgm:choose>
    <dgm:presOf/>
    <dgm:constrLst>
      <dgm:constr type="primFontSz" for="des" forName="Subtitle" op="equ" val="18"/>
      <dgm:constr type="primFontSz" for="des" forName="Description" refType="primFontSz" refFor="des" refForName="Subtitle" op="equ" fact="0.77"/>
      <dgm:constr type="w" for="ch" forName="Composite" refType="w"/>
      <dgm:constr type="h" for="ch" forName="Composite" refType="h"/>
      <dgm:constr type="h" for="ch" forName="sibTrans" refType="h" refFor="ch" refForName="Composite" fact="0.08"/>
      <dgm:constr type="sp" refType="w" refFor="ch" refForName="Composite" op="equ" fact="0.1"/>
    </dgm:constrLst>
    <dgm:ruleLst/>
    <dgm:forEach name="DirectChildrenOfRoot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Picture" refType="w" fact="0.335"/>
          <dgm:constr type="h" for="ch" forName="Picture" refType="w" refFor="ch" refForName="Picture" op="equ"/>
          <dgm:constr type="h" for="ch" forName="Picture" refType="h" op="lte"/>
          <dgm:constr type="l" for="ch" forName="Subtitle" refType="r" refFor="ch" refForName="Picture"/>
          <dgm:constr type="lOff" for="ch" forName="Subtitle" val="5"/>
          <dgm:constr type="h" for="ch" forName="Subtitle" refType="h" fact="0.1"/>
          <dgm:constr type="t" for="ch" forName="Description" refType="b" refFor="ch" refForName="Subtitle"/>
          <dgm:constr type="l" for="ch" forName="Description" refType="r" refFor="ch" refForName="Picture"/>
          <dgm:constr type="lOff" for="ch" forName="Description" val="5"/>
        </dgm:constrLst>
        <dgm:ruleLst/>
        <dgm:layoutNode name="Picture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ubtitle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SubtitleConstraintsBasedOnLanguageDirection">
            <dgm:if name="SubtitleIsLeftToRight" func="var" arg="dir" op="equ" val="norm">
              <dgm:constrLst>
                <dgm:constr type="h" refType="w" op="lte" fact="0.4"/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SubtitleIsRightToLeft">
              <dgm:constrLst>
                <dgm:constr type="h" refType="w" op="lte" fact="0.4"/>
                <dgm:constr type="rMarg"/>
                <dgm:constr type="lMarg" refType="primFontSz" fact="0.1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Description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DescriptionConstraintsBasedOnLanguageDirection">
            <dgm:if name="DescriptionIsLeftToRight" func="var" arg="dir" op="equ" val="norm">
              <dgm:constrLst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DescriptionIsRightToLeft">
              <dgm:constrLst>
                <dgm:constr type="lMarg" refType="primFontSz" fact="0.1"/>
                <dgm:constr type="rMarg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24/3/layout/verticalVisualTextBlock1">
  <dgm:title val="Vertical Visual Text Blocks"/>
  <dgm:desc val="Pictures with short bits of text with formatted headers. Use as an easier-to-read alternative to a bulleted list."/>
  <dgm:catLst>
    <dgm:cat type="picture" pri="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Root">
    <dgm:varLst>
      <dgm:dir/>
      <dgm:resizeHandles val="exact"/>
    </dgm:varLst>
    <dgm:choose name="BasedOnLanguageDirection">
      <dgm:if name="LeftToRight" func="var" arg="dir" op="equ" val="norm">
        <dgm:alg type="lin">
          <dgm:param type="linDir" val="fromT"/>
          <dgm:param type="vertAlign" val="t"/>
          <dgm:param type="horzAlign" val="l"/>
        </dgm:alg>
      </dgm:if>
      <dgm:else name="RightToLeft">
        <dgm:alg type="lin">
          <dgm:param type="linDir" val="fromT"/>
          <dgm:param type="vertAlign" val="t"/>
          <dgm:param type="horzAlign" val="r"/>
        </dgm:alg>
      </dgm:else>
    </dgm:choose>
    <dgm:presOf/>
    <dgm:constrLst>
      <dgm:constr type="primFontSz" for="des" forName="Subtitle" op="equ" val="18"/>
      <dgm:constr type="primFontSz" for="des" forName="Description" refType="primFontSz" refFor="des" refForName="Subtitle" op="equ" fact="0.77"/>
      <dgm:constr type="w" for="ch" forName="Composite" refType="w"/>
      <dgm:constr type="h" for="ch" forName="Composite" refType="h"/>
      <dgm:constr type="h" for="ch" forName="sibTrans" refType="h" refFor="ch" refForName="Composite" fact="0.08"/>
      <dgm:constr type="sp" refType="w" refFor="ch" refForName="Composite" op="equ" fact="0.1"/>
    </dgm:constrLst>
    <dgm:ruleLst/>
    <dgm:forEach name="DirectChildrenOfRoot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Picture" refType="w" fact="0.335"/>
          <dgm:constr type="h" for="ch" forName="Picture" refType="w" refFor="ch" refForName="Picture" op="equ"/>
          <dgm:constr type="h" for="ch" forName="Picture" refType="h" op="lte"/>
          <dgm:constr type="l" for="ch" forName="Subtitle" refType="r" refFor="ch" refForName="Picture"/>
          <dgm:constr type="lOff" for="ch" forName="Subtitle" val="5"/>
          <dgm:constr type="h" for="ch" forName="Subtitle" refType="h" fact="0.1"/>
          <dgm:constr type="t" for="ch" forName="Description" refType="b" refFor="ch" refForName="Subtitle"/>
          <dgm:constr type="l" for="ch" forName="Description" refType="r" refFor="ch" refForName="Picture"/>
          <dgm:constr type="lOff" for="ch" forName="Description" val="5"/>
        </dgm:constrLst>
        <dgm:ruleLst/>
        <dgm:layoutNode name="Picture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ubtitle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SubtitleConstraintsBasedOnLanguageDirection">
            <dgm:if name="SubtitleIsLeftToRight" func="var" arg="dir" op="equ" val="norm">
              <dgm:constrLst>
                <dgm:constr type="h" refType="w" op="lte" fact="0.4"/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SubtitleIsRightToLeft">
              <dgm:constrLst>
                <dgm:constr type="h" refType="w" op="lte" fact="0.4"/>
                <dgm:constr type="rMarg"/>
                <dgm:constr type="lMarg" refType="primFontSz" fact="0.1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Description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DescriptionConstraintsBasedOnLanguageDirection">
            <dgm:if name="DescriptionIsLeftToRight" func="var" arg="dir" op="equ" val="norm">
              <dgm:constrLst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DescriptionIsRightToLeft">
              <dgm:constrLst>
                <dgm:constr type="lMarg" refType="primFontSz" fact="0.1"/>
                <dgm:constr type="rMarg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24/3/layout/verticalVisualTextBlock1">
  <dgm:title val="Vertical Visual Text Blocks"/>
  <dgm:desc val="Pictures with short bits of text with formatted headers. Use as an easier-to-read alternative to a bulleted list."/>
  <dgm:catLst>
    <dgm:cat type="picture" pri="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Root">
    <dgm:varLst>
      <dgm:dir/>
      <dgm:resizeHandles val="exact"/>
    </dgm:varLst>
    <dgm:choose name="BasedOnLanguageDirection">
      <dgm:if name="LeftToRight" func="var" arg="dir" op="equ" val="norm">
        <dgm:alg type="lin">
          <dgm:param type="linDir" val="fromT"/>
          <dgm:param type="vertAlign" val="t"/>
          <dgm:param type="horzAlign" val="l"/>
        </dgm:alg>
      </dgm:if>
      <dgm:else name="RightToLeft">
        <dgm:alg type="lin">
          <dgm:param type="linDir" val="fromT"/>
          <dgm:param type="vertAlign" val="t"/>
          <dgm:param type="horzAlign" val="r"/>
        </dgm:alg>
      </dgm:else>
    </dgm:choose>
    <dgm:presOf/>
    <dgm:constrLst>
      <dgm:constr type="primFontSz" for="des" forName="Subtitle" op="equ" val="18"/>
      <dgm:constr type="primFontSz" for="des" forName="Description" refType="primFontSz" refFor="des" refForName="Subtitle" op="equ" fact="0.77"/>
      <dgm:constr type="w" for="ch" forName="Composite" refType="w"/>
      <dgm:constr type="h" for="ch" forName="Composite" refType="h"/>
      <dgm:constr type="h" for="ch" forName="sibTrans" refType="h" refFor="ch" refForName="Composite" fact="0.08"/>
      <dgm:constr type="sp" refType="w" refFor="ch" refForName="Composite" op="equ" fact="0.1"/>
    </dgm:constrLst>
    <dgm:ruleLst/>
    <dgm:forEach name="DirectChildrenOfRoot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Picture" refType="w" fact="0.335"/>
          <dgm:constr type="h" for="ch" forName="Picture" refType="w" refFor="ch" refForName="Picture" op="equ"/>
          <dgm:constr type="h" for="ch" forName="Picture" refType="h" op="lte"/>
          <dgm:constr type="l" for="ch" forName="Subtitle" refType="r" refFor="ch" refForName="Picture"/>
          <dgm:constr type="lOff" for="ch" forName="Subtitle" val="5"/>
          <dgm:constr type="h" for="ch" forName="Subtitle" refType="h" fact="0.1"/>
          <dgm:constr type="t" for="ch" forName="Description" refType="b" refFor="ch" refForName="Subtitle"/>
          <dgm:constr type="l" for="ch" forName="Description" refType="r" refFor="ch" refForName="Picture"/>
          <dgm:constr type="lOff" for="ch" forName="Description" val="5"/>
        </dgm:constrLst>
        <dgm:ruleLst/>
        <dgm:layoutNode name="Picture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ubtitle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SubtitleConstraintsBasedOnLanguageDirection">
            <dgm:if name="SubtitleIsLeftToRight" func="var" arg="dir" op="equ" val="norm">
              <dgm:constrLst>
                <dgm:constr type="h" refType="w" op="lte" fact="0.4"/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SubtitleIsRightToLeft">
              <dgm:constrLst>
                <dgm:constr type="h" refType="w" op="lte" fact="0.4"/>
                <dgm:constr type="rMarg"/>
                <dgm:constr type="lMarg" refType="primFontSz" fact="0.1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Description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DescriptionConstraintsBasedOnLanguageDirection">
            <dgm:if name="DescriptionIsLeftToRight" func="var" arg="dir" op="equ" val="norm">
              <dgm:constrLst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DescriptionIsRightToLeft">
              <dgm:constrLst>
                <dgm:constr type="lMarg" refType="primFontSz" fact="0.1"/>
                <dgm:constr type="rMarg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24/3/layout/verticalVisualTextBlock1">
  <dgm:title val="Vertical Visual Text Blocks"/>
  <dgm:desc val="Pictures with short bits of text with formatted headers. Use as an easier-to-read alternative to a bulleted list."/>
  <dgm:catLst>
    <dgm:cat type="picture" pri="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Root">
    <dgm:varLst>
      <dgm:dir/>
      <dgm:resizeHandles val="exact"/>
    </dgm:varLst>
    <dgm:choose name="BasedOnLanguageDirection">
      <dgm:if name="LeftToRight" func="var" arg="dir" op="equ" val="norm">
        <dgm:alg type="lin">
          <dgm:param type="linDir" val="fromT"/>
          <dgm:param type="vertAlign" val="t"/>
          <dgm:param type="horzAlign" val="l"/>
        </dgm:alg>
      </dgm:if>
      <dgm:else name="RightToLeft">
        <dgm:alg type="lin">
          <dgm:param type="linDir" val="fromT"/>
          <dgm:param type="vertAlign" val="t"/>
          <dgm:param type="horzAlign" val="r"/>
        </dgm:alg>
      </dgm:else>
    </dgm:choose>
    <dgm:presOf/>
    <dgm:constrLst>
      <dgm:constr type="primFontSz" for="des" forName="Subtitle" op="equ" val="18"/>
      <dgm:constr type="primFontSz" for="des" forName="Description" refType="primFontSz" refFor="des" refForName="Subtitle" op="equ" fact="0.77"/>
      <dgm:constr type="w" for="ch" forName="Composite" refType="w"/>
      <dgm:constr type="h" for="ch" forName="Composite" refType="h"/>
      <dgm:constr type="h" for="ch" forName="sibTrans" refType="h" refFor="ch" refForName="Composite" fact="0.08"/>
      <dgm:constr type="sp" refType="w" refFor="ch" refForName="Composite" op="equ" fact="0.1"/>
    </dgm:constrLst>
    <dgm:ruleLst/>
    <dgm:forEach name="DirectChildrenOfRoot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Picture" refType="w" fact="0.335"/>
          <dgm:constr type="h" for="ch" forName="Picture" refType="w" refFor="ch" refForName="Picture" op="equ"/>
          <dgm:constr type="h" for="ch" forName="Picture" refType="h" op="lte"/>
          <dgm:constr type="l" for="ch" forName="Subtitle" refType="r" refFor="ch" refForName="Picture"/>
          <dgm:constr type="lOff" for="ch" forName="Subtitle" val="5"/>
          <dgm:constr type="h" for="ch" forName="Subtitle" refType="h" fact="0.1"/>
          <dgm:constr type="t" for="ch" forName="Description" refType="b" refFor="ch" refForName="Subtitle"/>
          <dgm:constr type="l" for="ch" forName="Description" refType="r" refFor="ch" refForName="Picture"/>
          <dgm:constr type="lOff" for="ch" forName="Description" val="5"/>
        </dgm:constrLst>
        <dgm:ruleLst/>
        <dgm:layoutNode name="Picture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ubtitle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SubtitleConstraintsBasedOnLanguageDirection">
            <dgm:if name="SubtitleIsLeftToRight" func="var" arg="dir" op="equ" val="norm">
              <dgm:constrLst>
                <dgm:constr type="h" refType="w" op="lte" fact="0.4"/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SubtitleIsRightToLeft">
              <dgm:constrLst>
                <dgm:constr type="h" refType="w" op="lte" fact="0.4"/>
                <dgm:constr type="rMarg"/>
                <dgm:constr type="lMarg" refType="primFontSz" fact="0.1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Description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DescriptionConstraintsBasedOnLanguageDirection">
            <dgm:if name="DescriptionIsLeftToRight" func="var" arg="dir" op="equ" val="norm">
              <dgm:constrLst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DescriptionIsRightToLeft">
              <dgm:constrLst>
                <dgm:constr type="lMarg" refType="primFontSz" fact="0.1"/>
                <dgm:constr type="rMarg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24/3/layout/verticalVisualTextBlock1">
  <dgm:title val="Vertical Visual Text Blocks"/>
  <dgm:desc val="Pictures with short bits of text with formatted headers. Use as an easier-to-read alternative to a bulleted list."/>
  <dgm:catLst>
    <dgm:cat type="picture" pri="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Root">
    <dgm:varLst>
      <dgm:dir/>
      <dgm:resizeHandles val="exact"/>
    </dgm:varLst>
    <dgm:choose name="BasedOnLanguageDirection">
      <dgm:if name="LeftToRight" func="var" arg="dir" op="equ" val="norm">
        <dgm:alg type="lin">
          <dgm:param type="linDir" val="fromT"/>
          <dgm:param type="vertAlign" val="t"/>
          <dgm:param type="horzAlign" val="l"/>
        </dgm:alg>
      </dgm:if>
      <dgm:else name="RightToLeft">
        <dgm:alg type="lin">
          <dgm:param type="linDir" val="fromT"/>
          <dgm:param type="vertAlign" val="t"/>
          <dgm:param type="horzAlign" val="r"/>
        </dgm:alg>
      </dgm:else>
    </dgm:choose>
    <dgm:presOf/>
    <dgm:constrLst>
      <dgm:constr type="primFontSz" for="des" forName="Subtitle" op="equ" val="18"/>
      <dgm:constr type="primFontSz" for="des" forName="Description" refType="primFontSz" refFor="des" refForName="Subtitle" op="equ" fact="0.77"/>
      <dgm:constr type="w" for="ch" forName="Composite" refType="w"/>
      <dgm:constr type="h" for="ch" forName="Composite" refType="h"/>
      <dgm:constr type="h" for="ch" forName="sibTrans" refType="h" refFor="ch" refForName="Composite" fact="0.08"/>
      <dgm:constr type="sp" refType="w" refFor="ch" refForName="Composite" op="equ" fact="0.1"/>
    </dgm:constrLst>
    <dgm:ruleLst/>
    <dgm:forEach name="DirectChildrenOfRoot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Picture" refType="w" fact="0.335"/>
          <dgm:constr type="h" for="ch" forName="Picture" refType="w" refFor="ch" refForName="Picture" op="equ"/>
          <dgm:constr type="h" for="ch" forName="Picture" refType="h" op="lte"/>
          <dgm:constr type="l" for="ch" forName="Subtitle" refType="r" refFor="ch" refForName="Picture"/>
          <dgm:constr type="lOff" for="ch" forName="Subtitle" val="5"/>
          <dgm:constr type="h" for="ch" forName="Subtitle" refType="h" fact="0.1"/>
          <dgm:constr type="t" for="ch" forName="Description" refType="b" refFor="ch" refForName="Subtitle"/>
          <dgm:constr type="l" for="ch" forName="Description" refType="r" refFor="ch" refForName="Picture"/>
          <dgm:constr type="lOff" for="ch" forName="Description" val="5"/>
        </dgm:constrLst>
        <dgm:ruleLst/>
        <dgm:layoutNode name="Picture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ubtitle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SubtitleConstraintsBasedOnLanguageDirection">
            <dgm:if name="SubtitleIsLeftToRight" func="var" arg="dir" op="equ" val="norm">
              <dgm:constrLst>
                <dgm:constr type="h" refType="w" op="lte" fact="0.4"/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SubtitleIsRightToLeft">
              <dgm:constrLst>
                <dgm:constr type="h" refType="w" op="lte" fact="0.4"/>
                <dgm:constr type="rMarg"/>
                <dgm:constr type="lMarg" refType="primFontSz" fact="0.1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Description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DescriptionConstraintsBasedOnLanguageDirection">
            <dgm:if name="DescriptionIsLeftToRight" func="var" arg="dir" op="equ" val="norm">
              <dgm:constrLst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DescriptionIsRightToLeft">
              <dgm:constrLst>
                <dgm:constr type="lMarg" refType="primFontSz" fact="0.1"/>
                <dgm:constr type="rMarg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EA2D1-275D-455B-B3D2-060373A6541B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CC61DC-361A-437B-A99B-496859F38E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7031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本簡報介紹數位轉型的核心概念與重要性，說明企業如何透過數位創新提升競爭力。內容涵蓋最新趨勢、實務應用與未來展望。作者／版權標示詳見檔案，請尊重智慧財產權。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0C5B5-26F8-4670-A43F-69216B864AF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7870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本簡報涵蓋：一、摘要與緣起，探討數位轉型速率；二、數位成熟度差異；三、策略及步調影響，包含 Strategy Zero；四、Digital recoupling 四要素；五、社會文化視角；六、五項數位覺察型企業指引；七、轉型步調管控建議；八、Azure 2024 市場案例；九、結論與參考資料。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1024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企業轉型不僅須確保步驟正確，更需調整步調以配合環境變化。領導力、組織就緒度和文化適應力三者交互影響轉型成敗。以數位成熟度評估現況，結合 recoupling 策略，能在創新與永續成長間取得平衡。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0181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轉型已從取得競爭優勢，轉變為企業的基本門檻。核心問題在於，如何在策略目標一致下，達到既快速又穩健的推動。步調指的是企業在執行、治理與擴散變革時的速率與節奏，直接影響轉型成效與持續競爭力。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5790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設定合適步調比單純決定是否轉型更為關鍵。需考慮策略契合度、組織氛圍及領導者的抉擇，才能因應不同情境調整速度。此外，必須在追求效率與維持敏捷間找到平衡，有效管理速度與穩定間的張力。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777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金融與電信產業在數位轉型上處於領先地位，主因為外部壓力大、競爭激烈。建築與公用事業則因產業特性與節奏較慢，數位化推進步調相對緩慢。產業外部環境與市場節奏，成為推動數位成熟度的重要決定因子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3212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組織從Beginners（低數位密度/低數位轉型）到Digirati（高數位密度/高轉型）各有不同挑戰。推動數位化時，需根據組織能力基線制定步調，並結合長遠願景。不同產業與型態間，不可用單一模式推行數位轉型。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76508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拖延或僅維持現狀，會導致企業錯失機會、競爭力下滑與基本風險提升。Kodak與Blockbuster即為未能及時轉型、錯失數位浪潮的著名反例。企業轉型必須以整體策略編排為核心，避免僅做零散創新。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6791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資源再配置是指將資料、基礎架構及人才等重要資源進行前移投資，以支持策略目標。領導承諾則強調從高層定錨，確保跨部門協作順利推動並給予充分授權。兩者相輔相成，提升組織競爭力。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2035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組織敏捷性要求結構的彈性調整，角色可隨需求改變，並且工作流程可以不斷迭代優化。從試點方案啟動，需設定清晰的門檻與里程碑，有效掌控推展步調，確保擴散過程順利落地。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83989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反思性強調對數位行為的自我覺察與評估。開放性鼓勵接受新觀點與創新科技。前瞻/主動性則指積極預見未來趨勢並主動調整策略。承諾/一體性則強調持續投入並促進團隊協作，實現數位目標。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22656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鼓勵成員勇於質疑現狀，建立有效的反向意見機制，有助於防止群體盲點與自滿現象。此外，透過持續反思與回饋，能讓團隊步調根據實際情況進行動態校正，提升組織的適應力與創新力。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91414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正視外部利害關係人的回饋，如顧問、研究者及董事會，能協助組織調整方向。透過外部諮詢與開放式研討，建立持續傾聽機制。這樣的開放性促進組織不斷優化決策與管理，提升整體競爭力。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14522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降低官僚壁壘，促進跨部門合作與決策靈活性，有助於提升組織主動性。加速試點和沙盒實驗，讓新方案快速驗證並調整。快速迭代、優化資料通路與縮短學習迴圈，提升創新效率與成果落地速度。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07526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轉型成功仰賴全員共同參與，跨職能小組協作及職務再設計能促進協同合作。透過分散式所有權，讓每位成員都有發言權，提升推動轉型的動力與組織韌性。這種承諾性有助於長期持續進步。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53203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企業轉型不僅是導入新技術，更需重塑企業文化、員工能力與組織結構。新能力的培養應與企業策略同步推進，而非視為一次性的專案。這種持續性變革讓企業能更有效地應對外部環境變化。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62445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將轉型誤認為一次性事件，容易造成只在表面變動或隨後不斷修補，無法達成深度改變。社會文化的停滯會限制技術革新的速度，導致創新無法有效落地。真正的轉型需長期持續，涵蓋文化與制度層面的整合與更新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75225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推動數位轉型需遵循五大指引：一、小步快跑，從第一手價值出發，靈活實踐創新；二、結盟合作，善用品牌與專長創造競爭優勢；三、積極參與標準化，避免技術碎片化；四、承擔資料治理與倫理責任；五、主動擁抱變革，全員參與推動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20764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採用小步快跑策略，先達到即時且可見的業務價值，避免過早投入巨額資本。將資料視為可重用的資產，強調循序漸進累積與應用。資料容量可隨需求逐步擴充，例如感測器應用逐步擴大資料規模。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76967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與中小型新創及領域專家協作，有助於結合集體專長，提升創新速度與執行規模。透過建立夥伴關係，可以分散經營風險，降低單一失敗的衝擊。同時，協作有助於縮短產品或服務的上市時間，提高市場競爭力。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7707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缺乏互通性是數位發展的主要障礙，因此建立統一標準至關重要。標準不只是技術規範，更是策略性資源，有助於產業發展與協同合作。由被動相容轉變為主動塑形未來介面，能引領創新，提升整體產業競爭力。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61402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明確界定資料的收集、使用與所有權邊界，有助於保護個人與組織的權益。處理敏感資訊時需特別謹慎，以降低法規遵循與聲譽風險。確立清晰的政策，可維持企業信任與合規經營。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76500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成功的變革需自上而下與全員參與並重，領導層設定方向，員工共同響應。制定明確目標與倡議是推動組織前進的關鍵。若忽視文化停滯，即使擁有先進技術，也將面臨成長緩慢與阻礙創新。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28180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清楚溝通願景與策略，確保全體共識。將資源與活動對齊策略，提升執行力。各層級能力建設，強化團隊實力。兼顧營運改善與效率，達成持續優化。以顧客或使用者導向，靈活調整推進節奏。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13868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將整體策略自上而下分解到各部門目標，有助於減少阻力並消除模糊地帶。保持持續且雙向的溝通對話，能確保各部門充分理解目標方向。避免資訊不對稱，減少訊息碎片化，提升組織協作效率。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84614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流動式再配置預算、人力與時間，能即時響應業務變化。IT 系統與人工作流程需同步調整，以維持運營效率。透過這種動態對齊，組織可展現高度敏捷性，有效因應市場與環境挑戰。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7739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提升員工的數位素養是推動組織轉型的基礎。主管需展現執行力，領導者則要倡議並為新計劃護航。透過跨域團隊合作，能有效打破部門孤島，同時培養試錯精神與學習文化，促進創新與成長。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33450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導入持續改善框架推動變革，能有效提升營運連續性。將 KPI 與生產力緊密連結，確保目標可量化、成果可追蹤。使轉型過程融入公司核心策略，避免僅為一次性專案，以達永續發展與效率提升。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22602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1. 利用資料洞察即時調整企業運作節奏，精準回應客戶需求。2. 客製化與即時化已成主流，企業需強化動態調整能力。3. 外部需求變化快速，建立敏捷的感知及反應機制，才能持續滿足市場與客戶期望。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01743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2024年第一季，Azure在IaaS市場佔有24%，僅次於AWS的31%。2023年Intelligent Cloud收入達962億美元，年增率約17.7%，展現強勁成長動能。2024年Azure客戶數較2023年成長約14%，攀升至近35萬家，持續擴大市場影響力。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06166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EMEA與北美地區的客戶密度最高，各自超過13萬客戶，展現市場強勁需求。Azure目前在全球設有超過60個資料中心區域，能穩定支撐多元客群的雲端服務需求。如此龐大基礎設施助力全球業務發展。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99870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新創企業年增率達 23%，成為增長最快的客群；同時，大型企業新增數量達 310 家。64% 的客戶僅使用 Azure，36% 採用多雲策略。Azure 與 Oracle 進一步擴大合作，推出 Oracle Database@Azure，提升企業雲端服務整合度。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42473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步調管理強調將策略、能力、文化與市場節奏重新耦合，實現企業長期競爭力。透過五指引與五建議，企業轉型能夠兼顧速度與穩健。從試點到擴散，應依靠完善機制，而非一次性衝刺，確保持續成長。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18461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影像來源: Microsoft 365 內容庫
本報告參考多個學術期刊，如 Journal of Business Strategy 及 Business Horizons，確保內容具權威性。另據 HG Insights 於2025年2月11日發布的 Azure 市場佔有率與買家概況報告（Azure Market Share &amp; Buyer Landscape Report）。建議於頁腳以標準格式註明原始來源及附上連結。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C61DC-361A-437B-A99B-496859F38E33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8131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575325-A7F4-8661-68DB-C3BF51BDD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A210E80-3948-553D-0860-DA1C578B0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7BFD5F0-14C9-DE92-E820-D906DE59C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053F-C806-490B-885C-D1070C95F845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4223EC2-B2E7-9417-ABC4-251676554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FBA2C1C-1B02-EB4E-09E5-10993C104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9EB3-D05B-49DA-ACD8-2C7BDA17C1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9775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428762-1C72-7FD6-152F-5E17A0E6C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5FE448-4548-6212-AC9B-DAE5A0113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03F1E86-FA7D-9758-F957-4E8AAAB5C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053F-C806-490B-885C-D1070C95F845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C3778E-280B-6E49-EE51-7C48B461D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0091B3-38F6-2143-FD49-1E4AC1349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9EB3-D05B-49DA-ACD8-2C7BDA17C1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7155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1D0317-FB1B-A82F-4612-280AF5526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53E69AE-5CDE-E952-C49F-2FE20ACE3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75FCD28-0531-6D20-8062-90CAF3E64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053F-C806-490B-885C-D1070C95F845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801FD6-B40B-6510-F689-F0713A589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6B4FAA-CE82-7568-BC9B-956A35873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9EB3-D05B-49DA-ACD8-2C7BDA17C1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8245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EED5BC-629E-E461-88C3-F41D55E2C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9C6CBC-88A6-2490-AE2C-088BA741E3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05522A5-A056-8BF6-2A0B-C92AB7BE7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2C9C089-9A6C-ED1C-FE73-9EAE778F2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053F-C806-490B-885C-D1070C95F845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E0E5F7-1404-9E1D-BE2F-DFF8551DB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5375199-7AB2-F2AB-5CC6-86AAECB84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9EB3-D05B-49DA-ACD8-2C7BDA17C1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4736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1D59FC-9CEF-CF59-E5D1-EFDF8135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A3A636F-73A2-C084-397D-C51C4B8D3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08ED3FB-3266-053A-7DD4-47BB9779A5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A698F74-D300-C81D-E2CD-2C65C23D7B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286B03F-EA49-96C0-DCDC-ADD272451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27A19A-6E32-06D9-68CA-7FE224F69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053F-C806-490B-885C-D1070C95F845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479A1D6-BC13-C69E-BBEB-82556DA20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5F342E2-4C38-01FD-1B45-A49D82503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9EB3-D05B-49DA-ACD8-2C7BDA17C1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0805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551743-897B-3D7F-B174-66F26862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A6AE4C0-17FF-A2BD-7F3D-B5853110D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053F-C806-490B-885C-D1070C95F845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B02C315-FB3E-5CAC-7B6A-8B43FAACB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4D23C9A-44E1-6066-DBF5-CCE46D1F7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9EB3-D05B-49DA-ACD8-2C7BDA17C1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3062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9EF7FCD-C5D9-5CD2-3A7C-112228B45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053F-C806-490B-885C-D1070C95F845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07C6162-6D6D-4F5F-82D3-7F4DCE48E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8BF8E1-4FF8-E98D-6F06-EF59C548D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9EB3-D05B-49DA-ACD8-2C7BDA17C1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2812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8970DD-FEBE-46C8-3ADC-9560388E1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64678A-377B-0200-92CE-059BFDEC0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A7272D9-4C92-007F-18DE-72A94AFF2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FCE7E4C-EB02-F983-3339-52C7825C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053F-C806-490B-885C-D1070C95F845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6570691-F84D-E0AB-B4EA-9CF078AEA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E6D3DC2-E5E1-6F12-0C14-0C5866E13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9EB3-D05B-49DA-ACD8-2C7BDA17C1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808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666F70-9258-DCA8-4CC4-F78EF79B5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AD315B6-0E4E-AC9F-7485-A1BBC3E513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27C4154-0650-EA6E-1EE6-148977C74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E4AEDDC-D33A-5254-3CA1-127D329C5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053F-C806-490B-885C-D1070C95F845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4B9EECD-F1BC-1DD0-A742-E2BC21417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EC2D2F6-9B27-3357-FFFD-8D896020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9EB3-D05B-49DA-ACD8-2C7BDA17C1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2944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C46005-DFDB-93C2-D3CB-2B6CAADAE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3A9894A-A718-BBF3-F270-3C2BA65CF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CDCE0F-5399-FABB-188B-BC1334382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053F-C806-490B-885C-D1070C95F845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68943F-D775-0F7B-D828-73CC136CE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BEF895-7758-BD8A-B963-8128E8DC5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9EB3-D05B-49DA-ACD8-2C7BDA17C1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0946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4A5E4E7-B8DE-0FF9-3C9E-5DFE34736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BD81392-1D45-B802-2988-2A48FC957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CC0F73-336C-E3E7-0D9B-AAA53FFD9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053F-C806-490B-885C-D1070C95F845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8AD01A-18F5-062C-8996-CCB3A36EE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D1E206-8128-F8D6-CCB0-43C4720F2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9EB3-D05B-49DA-ACD8-2C7BDA17C1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4029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2778FB9-C29D-75CC-E230-3D74922EB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1FBC100-BF94-9225-BCC6-9195D76E8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2652A16-EDF2-3AA0-B020-B09FA1A259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99053F-C806-490B-885C-D1070C95F845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B768961-B15B-C791-7371-B1B8A2F18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6C38DF4-E150-7C2A-C76A-1F71876292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49EB3-D05B-49DA-ACD8-2C7BDA17C1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8544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現代未來主義建築內部，從下方走來走去的人。玻璃樓梯疊加在明亮的城市景觀之上。那個城市是紐約市，哈德遜園區。藍色調。">
            <a:extLst>
              <a:ext uri="{FF2B5EF4-FFF2-40B4-BE49-F238E27FC236}">
                <a16:creationId xmlns:a16="http://schemas.microsoft.com/office/drawing/2014/main" id="{CAD47C81-8DAF-4096-8FC7-3D8565BDDDC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t="2554" b="6810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0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7A7F4DB-950A-DC23-A4B5-678A94F4C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b="1"/>
              <a:t>數位轉型引領潮流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C4203E3-621C-5D17-3A93-4333ADEA5DC8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數位轉型核心概念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數位轉型是企業運用數位科技優化流程、產品與服務，促進組織創新和成長的關鍵。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提升企業競爭力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企業透過數位創新改善運營效率、提升客戶體驗，進而增強市場競爭力。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趨勢與未來展望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持續追蹤數位發展趨勢，企業必須靈活調整策略，迎接數位時代的挑戰與機遇。</a:t>
            </a:r>
          </a:p>
        </p:txBody>
      </p:sp>
    </p:spTree>
    <p:extLst>
      <p:ext uri="{BB962C8B-B14F-4D97-AF65-F5344CB8AC3E}">
        <p14:creationId xmlns:p14="http://schemas.microsoft.com/office/powerpoint/2010/main" val="210794391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科技與創新概念">
            <a:extLst>
              <a:ext uri="{FF2B5EF4-FFF2-40B4-BE49-F238E27FC236}">
                <a16:creationId xmlns:a16="http://schemas.microsoft.com/office/drawing/2014/main" id="{BA28FE15-2F00-4D2D-B0D0-BF840E7B523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0180" r="9100" b="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0F9E2A8-FC2A-FD45-99B3-C65A60F49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b="1"/>
              <a:t>簡報目錄總覽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FCE0F6B-9333-12CF-5E01-F7814FF85B7F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數位轉型速率與成熟度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簡報將探討企業數位轉型的速度，以及不同組織間的數位成熟度差異。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策略及步調影響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將介紹策略選擇對轉型步調的影響，包含 </a:t>
            </a:r>
            <a:r>
              <a:rPr lang="en-US" altLang="zh-TW" sz="1400"/>
              <a:t>Strategy Zero </a:t>
            </a:r>
            <a:r>
              <a:rPr lang="zh-TW" altLang="en-US" sz="1400"/>
              <a:t>等獨特方法。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altLang="zh-TW" sz="1400" b="1"/>
              <a:t>Digital recoupling </a:t>
            </a:r>
            <a:r>
              <a:rPr lang="zh-TW" altLang="en-US" sz="1400" b="1"/>
              <a:t>與企業指引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簡報內容涵蓋 </a:t>
            </a:r>
            <a:r>
              <a:rPr lang="en-US" altLang="zh-TW" sz="1400"/>
              <a:t>Digital recoupling </a:t>
            </a:r>
            <a:r>
              <a:rPr lang="zh-TW" altLang="en-US" sz="1400"/>
              <a:t>四要素及數位覺察型企業的五項指引。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市場案例與管控建議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探討 </a:t>
            </a:r>
            <a:r>
              <a:rPr lang="en-US" altLang="zh-TW" sz="1400"/>
              <a:t>Azure 2024 </a:t>
            </a:r>
            <a:r>
              <a:rPr lang="zh-TW" altLang="en-US" sz="1400"/>
              <a:t>市場案例及轉型步調管控的相關建議與結論。</a:t>
            </a:r>
          </a:p>
        </p:txBody>
      </p:sp>
    </p:spTree>
    <p:extLst>
      <p:ext uri="{BB962C8B-B14F-4D97-AF65-F5344CB8AC3E}">
        <p14:creationId xmlns:p14="http://schemas.microsoft.com/office/powerpoint/2010/main" val="400143947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手繪的商人與女商人圖示，紅黑相間，透過箭頭隨機連接於白色背景上。這張圖片展示了社群媒體以及商業人士之間的線上溝通。">
            <a:extLst>
              <a:ext uri="{FF2B5EF4-FFF2-40B4-BE49-F238E27FC236}">
                <a16:creationId xmlns:a16="http://schemas.microsoft.com/office/drawing/2014/main" id="{0E3C200A-10D5-45EC-A6C9-1EFA9E132BB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5781" r="101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BF45A9D-D6C8-1D1C-0A6E-966760978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b="1"/>
              <a:t>轉型成功關鍵摘要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67FE581-9BD8-238C-2AA6-A8ECF42B220B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靈活步調與環境契合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企業轉型需靈活調整步調，配合外部環境變化，才能確保轉型步驟正確。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三大成功要素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領導力、組織就緒度與文化適應力相互影響，決定企業轉型的成敗關鍵。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數位成熟度與策略平衡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以數位成熟度評估現況，搭配 </a:t>
            </a:r>
            <a:r>
              <a:rPr lang="en-US" altLang="zh-TW" sz="1400"/>
              <a:t>recoupling </a:t>
            </a:r>
            <a:r>
              <a:rPr lang="zh-TW" altLang="en-US" sz="1400"/>
              <a:t>策略，有助於創新與永續成長的平衡發展。</a:t>
            </a:r>
          </a:p>
        </p:txBody>
      </p:sp>
    </p:spTree>
    <p:extLst>
      <p:ext uri="{BB962C8B-B14F-4D97-AF65-F5344CB8AC3E}">
        <p14:creationId xmlns:p14="http://schemas.microsoft.com/office/powerpoint/2010/main" val="338941544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穩定性與穩定性數位概念。">
            <a:extLst>
              <a:ext uri="{FF2B5EF4-FFF2-40B4-BE49-F238E27FC236}">
                <a16:creationId xmlns:a16="http://schemas.microsoft.com/office/drawing/2014/main" id="{B04BD5BE-9F4E-4B27-92C6-206811734DA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1206" r="8073" b="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94A49EA-C855-0FA4-FAF6-DD46ABD8F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b="1"/>
              <a:t>為何重視步調？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96CD6B4-BE54-8BFC-2401-D9AF05E4B8FF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轉型成為基本門檻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現今企業轉型不僅是競爭優勢，更是生存的基本條件，所有企業都需面對此挑戰。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步調影響推動效果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執行與治理變革的速率會直接影響企業轉型的成效與成長持續力。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穩健與快速並重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企業必須在戰略一致下，快速且穩健地推動變革，確保長期競爭力。</a:t>
            </a:r>
          </a:p>
        </p:txBody>
      </p:sp>
    </p:spTree>
    <p:extLst>
      <p:ext uri="{BB962C8B-B14F-4D97-AF65-F5344CB8AC3E}">
        <p14:creationId xmlns:p14="http://schemas.microsoft.com/office/powerpoint/2010/main" val="413156573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頂端的木製假人，驕傲地望向天空或未來">
            <a:extLst>
              <a:ext uri="{FF2B5EF4-FFF2-40B4-BE49-F238E27FC236}">
                <a16:creationId xmlns:a16="http://schemas.microsoft.com/office/drawing/2014/main" id="{806C75F3-080F-4D62-8BDB-C404E82E84C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932" r="3951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085F058-2031-D603-790D-C1A4BF2A2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b="1"/>
              <a:t>掌握轉型步調要點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804E168-A7C5-4323-9A25-AD41C02343C1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策略契合度評估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確保轉型步調與整體策略方向一致，有助於提升組織成功機率。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組織氛圍與領導抉擇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根據組織文化及領導者的判斷，調整轉型速度以因應不同情境。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效率與敏捷平衡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在追求高效率與保持敏捷反應間找到平衡，有效管理速度與穩定的張力。</a:t>
            </a:r>
          </a:p>
        </p:txBody>
      </p:sp>
    </p:spTree>
    <p:extLst>
      <p:ext uri="{BB962C8B-B14F-4D97-AF65-F5344CB8AC3E}">
        <p14:creationId xmlns:p14="http://schemas.microsoft.com/office/powerpoint/2010/main" val="57038138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物聯網概念">
            <a:extLst>
              <a:ext uri="{FF2B5EF4-FFF2-40B4-BE49-F238E27FC236}">
                <a16:creationId xmlns:a16="http://schemas.microsoft.com/office/drawing/2014/main" id="{3FFE830E-AC42-464B-98D1-60ACFEF0019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r="5882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5F6A11A-F7D2-A39F-556E-796CD03DC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b="1"/>
              <a:t>產業數位成熟度比較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90F360C-16D7-BD6E-E274-BCDB9126F1C6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金融與電信數位領先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由於外部壓力與競爭，金融與電信產業在數位轉型上發展迅速，常居領先地位。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建築與公用事業推進緩慢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建築與公用事業因產業特性與緩慢步調，數位成熟度提升較為緩慢。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外部環境影響成熟度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產業外部環境與市場競爭節奏，是推動數位成熟度的關鍵決定因素。</a:t>
            </a:r>
          </a:p>
        </p:txBody>
      </p:sp>
    </p:spTree>
    <p:extLst>
      <p:ext uri="{BB962C8B-B14F-4D97-AF65-F5344CB8AC3E}">
        <p14:creationId xmlns:p14="http://schemas.microsoft.com/office/powerpoint/2010/main" val="391411889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科技與創新概念">
            <a:extLst>
              <a:ext uri="{FF2B5EF4-FFF2-40B4-BE49-F238E27FC236}">
                <a16:creationId xmlns:a16="http://schemas.microsoft.com/office/drawing/2014/main" id="{58C2A434-4AC6-4F5E-99BB-D7B06097692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2531" r="6749" b="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D09B20E-735E-6F27-A10B-EA6382941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b="1"/>
              <a:t>數位成熟度的分歧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C7797D8-32F5-6DC0-0ADE-C36765C43A3E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成熟度階段不同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組織從初學者到數位領袖，成熟度各異，需面對不同挑戰與需求。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能力基線與步調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推動數位化需根據組織自身能力基線制定步調，結合長遠願景規劃。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產業型態差異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不同產業與組織型態，不應用同一模式推行數位轉型，需量身訂做策略。</a:t>
            </a:r>
          </a:p>
        </p:txBody>
      </p:sp>
    </p:spTree>
    <p:extLst>
      <p:ext uri="{BB962C8B-B14F-4D97-AF65-F5344CB8AC3E}">
        <p14:creationId xmlns:p14="http://schemas.microsoft.com/office/powerpoint/2010/main" val="284256237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B79CA-1CB8-A133-67D7-E2B7AC1F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472D1B7-FAE6-9118-E399-64F80E0A4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522" y="849085"/>
            <a:ext cx="3602356" cy="5179925"/>
          </a:xfrm>
        </p:spPr>
        <p:txBody>
          <a:bodyPr anchor="ctr">
            <a:normAutofit/>
          </a:bodyPr>
          <a:lstStyle/>
          <a:p>
            <a:r>
              <a:rPr lang="zh-TW" altLang="en-US"/>
              <a:t>拒絕「零策略」陷阱</a:t>
            </a:r>
          </a:p>
        </p:txBody>
      </p:sp>
      <p:graphicFrame>
        <p:nvGraphicFramePr>
          <p:cNvPr id="4" name="內容版面配置區 4">
            <a:extLst>
              <a:ext uri="{FF2B5EF4-FFF2-40B4-BE49-F238E27FC236}">
                <a16:creationId xmlns:a16="http://schemas.microsoft.com/office/drawing/2014/main" id="{83305FDE-FD1A-480C-9554-0C5DA1072C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643919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VisualTitledTextBox"/>
                  </p202:designTagLst>
                </p202:designPr>
              </p:ext>
            </p:extLst>
          </p:nvPr>
        </p:nvGraphicFramePr>
        <p:xfrm>
          <a:off x="5487394" y="849085"/>
          <a:ext cx="6144768" cy="5179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8285797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商業、金融與競爭概念;3D紙或紙板風格的商業人物競賽圖示，藍色背景上有木棍，並有較大的複製版空間。">
            <a:extLst>
              <a:ext uri="{FF2B5EF4-FFF2-40B4-BE49-F238E27FC236}">
                <a16:creationId xmlns:a16="http://schemas.microsoft.com/office/drawing/2014/main" id="{37981CFD-1D46-49A1-B7D6-D401FEB2A23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38775" r="235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0771E64-FE2B-B0BD-5709-DB867D449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b="1" dirty="0"/>
              <a:t>策略驅動四要務解析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2B353E5-1D2B-A96B-61FD-90387151738A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資源再配置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將資料、基礎架構及人才等資源優先投資，以支持策略目標，提升組織靈活性和競爭力。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領導承諾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高層領導定錨策略方向，推動跨部門協作並授權，確保目標順利實現。</a:t>
            </a:r>
          </a:p>
        </p:txBody>
      </p:sp>
    </p:spTree>
    <p:extLst>
      <p:ext uri="{BB962C8B-B14F-4D97-AF65-F5344CB8AC3E}">
        <p14:creationId xmlns:p14="http://schemas.microsoft.com/office/powerpoint/2010/main" val="106429748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E489A2B-F766-8633-272D-420E77E0E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TW" alt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推動組織敏捷轉型</a:t>
            </a:r>
          </a:p>
        </p:txBody>
      </p:sp>
      <p:graphicFrame>
        <p:nvGraphicFramePr>
          <p:cNvPr id="4" name="內容版面配置區 4">
            <a:extLst>
              <a:ext uri="{FF2B5EF4-FFF2-40B4-BE49-F238E27FC236}">
                <a16:creationId xmlns:a16="http://schemas.microsoft.com/office/drawing/2014/main" id="{7DBE4DDD-87FE-429E-98FA-F24828DC50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9271426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VisualTitledTextBox"/>
                  </p202:designTagLst>
                </p202:designPr>
              </p:ext>
            </p:extLst>
          </p:nvPr>
        </p:nvGraphicFramePr>
        <p:xfrm>
          <a:off x="5387542" y="548639"/>
          <a:ext cx="6189780" cy="5861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6623941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CB0BFD7-8758-C35D-9D8A-5828ECD42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b="1"/>
              <a:t>Digital Recoupling </a:t>
            </a:r>
            <a:r>
              <a:rPr lang="zh-TW" altLang="en-US" b="1"/>
              <a:t>四要素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94ECED2-AD52-823D-1139-47A9431BD22B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反思性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強調對數位行為的自我覺察與評估，有助於提升個人與組織的數位素養。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開放性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鼓勵接受新觀點與創新科技，促進組織創新與持續發展。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前瞻／主動性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積極預見未來趨勢並主動調整策略，確保數位轉型的領先地位。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承諾／一體性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強調持續投入與團隊協作，共同實現數位轉型目標。</a:t>
            </a:r>
          </a:p>
        </p:txBody>
      </p:sp>
      <p:pic>
        <p:nvPicPr>
          <p:cNvPr id="5" name="內容版面配置區 4" descr="Blackboard 商業策略概念">
            <a:extLst>
              <a:ext uri="{FF2B5EF4-FFF2-40B4-BE49-F238E27FC236}">
                <a16:creationId xmlns:a16="http://schemas.microsoft.com/office/drawing/2014/main" id="{131E9118-026E-41BC-8EA2-37A52C29F8D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5135" r="20089" b="-2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8349710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圓形箭頭內人員">
            <a:extLst>
              <a:ext uri="{FF2B5EF4-FFF2-40B4-BE49-F238E27FC236}">
                <a16:creationId xmlns:a16="http://schemas.microsoft.com/office/drawing/2014/main" id="{33570915-9C1D-4CF8-997D-6A79626BEF2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3036" r="2846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22123B9-183F-948D-3218-8E5FB21B6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b="1"/>
              <a:t>反思性與動態校正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B45B4FA-3D13-E141-7E35-DE751F0CA166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質疑現狀的重要性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鼓勵團隊成員勇於質疑現有做法，能避免群體盲點與自滿現象的產生。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反向意見機制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建立有效的反向意見機制，有助於多元觀點的碰撞與問題早期發現。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持續反思與動態調整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透過持續反思和回饋，團隊能根據實際情況進行動態校正，提升適應與創新能力。</a:t>
            </a:r>
          </a:p>
        </p:txBody>
      </p:sp>
    </p:spTree>
    <p:extLst>
      <p:ext uri="{BB962C8B-B14F-4D97-AF65-F5344CB8AC3E}">
        <p14:creationId xmlns:p14="http://schemas.microsoft.com/office/powerpoint/2010/main" val="352547558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311824E-984A-A418-FE7A-91BB7F6AB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TW" alt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開放性與外部回饋</a:t>
            </a:r>
          </a:p>
        </p:txBody>
      </p:sp>
      <p:graphicFrame>
        <p:nvGraphicFramePr>
          <p:cNvPr id="4" name="內容版面配置區 4">
            <a:extLst>
              <a:ext uri="{FF2B5EF4-FFF2-40B4-BE49-F238E27FC236}">
                <a16:creationId xmlns:a16="http://schemas.microsoft.com/office/drawing/2014/main" id="{C93AC542-99E8-4278-B123-3F6EB67130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9300707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VisualTitledTextBox"/>
                  </p202:designTagLst>
                </p202:designPr>
              </p:ext>
            </p:extLst>
          </p:nvPr>
        </p:nvGraphicFramePr>
        <p:xfrm>
          <a:off x="5387542" y="548639"/>
          <a:ext cx="6189780" cy="5861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3914715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機器人操作器手持拼圖碎片">
            <a:extLst>
              <a:ext uri="{FF2B5EF4-FFF2-40B4-BE49-F238E27FC236}">
                <a16:creationId xmlns:a16="http://schemas.microsoft.com/office/drawing/2014/main" id="{03C64A07-679E-4CD5-8D4C-A298BD7D23B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t="5436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C23997D-6A27-ED97-5F82-BA371C71B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b="1"/>
              <a:t>主動性提升再連結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49318E5-2D5D-A0C7-9525-34CF62AD8AD2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促進靈活合作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降低官僚障礙，推動跨部門協作和靈活決策，能顯著提升組織主動性。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加速試點驗證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透過加速試點及沙盒實驗，可以快速驗證與調整新方案，促進創新落地。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優化資料與學習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快速迭代並優化資料通路，縮短學習迴圈，讓創新效率和成果落地速度大幅提升。</a:t>
            </a:r>
          </a:p>
        </p:txBody>
      </p:sp>
    </p:spTree>
    <p:extLst>
      <p:ext uri="{BB962C8B-B14F-4D97-AF65-F5344CB8AC3E}">
        <p14:creationId xmlns:p14="http://schemas.microsoft.com/office/powerpoint/2010/main" val="220342867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工作場所有人說話">
            <a:extLst>
              <a:ext uri="{FF2B5EF4-FFF2-40B4-BE49-F238E27FC236}">
                <a16:creationId xmlns:a16="http://schemas.microsoft.com/office/drawing/2014/main" id="{9C5D7C99-97B4-4969-979B-A89AFC4F34B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r="6237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532FBCF-CECE-AABE-AD80-5FDB6A2AC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b="1"/>
              <a:t>承諾性與共同轉型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066261A-7E93-7D90-A74E-9841927256CF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全員參與推動轉型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組織轉型的成功仰賴每一位成員的投入與共同參與，凝聚團隊向心力。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跨職能協作與職務再設計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跨部門協作和職務調整能激發更多創新與協同效益，促進組織轉型。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分散式所有權與長期進步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分散式所有權提升成員發言權與責任感，增強組織韌性並促進長期成長。</a:t>
            </a:r>
          </a:p>
        </p:txBody>
      </p:sp>
    </p:spTree>
    <p:extLst>
      <p:ext uri="{BB962C8B-B14F-4D97-AF65-F5344CB8AC3E}">
        <p14:creationId xmlns:p14="http://schemas.microsoft.com/office/powerpoint/2010/main" val="137489303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46FD3B-2D77-2D14-2AC8-713B7C62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522" y="849085"/>
            <a:ext cx="3602356" cy="5179925"/>
          </a:xfrm>
        </p:spPr>
        <p:txBody>
          <a:bodyPr anchor="ctr">
            <a:normAutofit/>
          </a:bodyPr>
          <a:lstStyle/>
          <a:p>
            <a:r>
              <a:rPr lang="zh-TW" altLang="en-US"/>
              <a:t>轉型：文化與能力重塑</a:t>
            </a:r>
          </a:p>
        </p:txBody>
      </p:sp>
      <p:graphicFrame>
        <p:nvGraphicFramePr>
          <p:cNvPr id="4" name="內容版面配置區 4">
            <a:extLst>
              <a:ext uri="{FF2B5EF4-FFF2-40B4-BE49-F238E27FC236}">
                <a16:creationId xmlns:a16="http://schemas.microsoft.com/office/drawing/2014/main" id="{5F836C47-6917-4EF6-9D9E-06D8603DD1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3283900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VisualTitledTextBox"/>
                  </p202:designTagLst>
                </p202:designPr>
              </p:ext>
            </p:extLst>
          </p:nvPr>
        </p:nvGraphicFramePr>
        <p:xfrm>
          <a:off x="5487394" y="849085"/>
          <a:ext cx="6144768" cy="5179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24749206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B79CA-1CB8-A133-67D7-E2B7AC1F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7129F59-A78E-73C2-6498-AB6EF9384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522" y="849085"/>
            <a:ext cx="3602356" cy="5179925"/>
          </a:xfrm>
        </p:spPr>
        <p:txBody>
          <a:bodyPr anchor="ctr">
            <a:normAutofit/>
          </a:bodyPr>
          <a:lstStyle/>
          <a:p>
            <a:r>
              <a:rPr lang="zh-TW" altLang="en-US"/>
              <a:t>轉型的深層意義</a:t>
            </a:r>
          </a:p>
        </p:txBody>
      </p:sp>
      <p:graphicFrame>
        <p:nvGraphicFramePr>
          <p:cNvPr id="4" name="內容版面配置區 4">
            <a:extLst>
              <a:ext uri="{FF2B5EF4-FFF2-40B4-BE49-F238E27FC236}">
                <a16:creationId xmlns:a16="http://schemas.microsoft.com/office/drawing/2014/main" id="{47329426-3F86-4725-966B-9F1B7DEAEE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9506723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VisualTitledTextBox"/>
                  </p202:designTagLst>
                </p202:designPr>
              </p:ext>
            </p:extLst>
          </p:nvPr>
        </p:nvGraphicFramePr>
        <p:xfrm>
          <a:off x="5487394" y="849085"/>
          <a:ext cx="6144768" cy="5179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5299393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物聯網概念">
            <a:extLst>
              <a:ext uri="{FF2B5EF4-FFF2-40B4-BE49-F238E27FC236}">
                <a16:creationId xmlns:a16="http://schemas.microsoft.com/office/drawing/2014/main" id="{F0024C03-9EB7-4602-9AA5-0A190A4F8AD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r="5882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7268D71-8B32-CD8D-8086-DA8D19C66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b="1"/>
              <a:t>數位覺察型企業五指引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0B920A9-9158-6D2C-ABA6-160885FAEC48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靈活創新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以小步快跑的方式實踐創新，從真正的價值出發，靈活回應市場變化。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結盟合作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與他人結盟，發揮品牌及專業優勢，共同創造競爭優勢。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參與標準化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積極參與產業標準制定，防止技術碎片化，提高效率與協同。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資料治理與變革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承擔資料治理與倫理責任，並主動擁抱變革，全員共同參與推動轉型。</a:t>
            </a:r>
          </a:p>
        </p:txBody>
      </p:sp>
    </p:spTree>
    <p:extLst>
      <p:ext uri="{BB962C8B-B14F-4D97-AF65-F5344CB8AC3E}">
        <p14:creationId xmlns:p14="http://schemas.microsoft.com/office/powerpoint/2010/main" val="128174722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2023 年成長圖表，箭頭向上，彩色背景上標示牛眼目標與基座平台">
            <a:extLst>
              <a:ext uri="{FF2B5EF4-FFF2-40B4-BE49-F238E27FC236}">
                <a16:creationId xmlns:a16="http://schemas.microsoft.com/office/drawing/2014/main" id="{05AAA19C-4AAB-4D63-A6BC-A2F2F202370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5884" r="-1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F29131C-D4C0-5F7A-5330-49C4393B3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b="1"/>
              <a:t>小步快跑累積資產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E614156-0265-B3EE-6AFC-3C6972B5D03B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即時業務價值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強調透過小步快跑策略，快速達成可見且即時的業務成果，並減少過早投入資本的風險。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資料資產化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將資料視為可重用的資產，透過循序漸進的方式不斷累積，提升長期應用價值。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彈性擴充應用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資料容量可依需求逐步增加，像感測器應用情境下，隨著需求擴大資料規模。</a:t>
            </a:r>
          </a:p>
        </p:txBody>
      </p:sp>
    </p:spTree>
    <p:extLst>
      <p:ext uri="{BB962C8B-B14F-4D97-AF65-F5344CB8AC3E}">
        <p14:creationId xmlns:p14="http://schemas.microsoft.com/office/powerpoint/2010/main" val="271473132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AE4F983-5906-1A84-2AFA-953F0C8A8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TW" alt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策略結盟與分工要點</a:t>
            </a:r>
          </a:p>
        </p:txBody>
      </p:sp>
      <p:graphicFrame>
        <p:nvGraphicFramePr>
          <p:cNvPr id="4" name="內容版面配置區 4">
            <a:extLst>
              <a:ext uri="{FF2B5EF4-FFF2-40B4-BE49-F238E27FC236}">
                <a16:creationId xmlns:a16="http://schemas.microsoft.com/office/drawing/2014/main" id="{E6C6F545-5C9C-4C1B-9C25-C6A10BADC1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083917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VisualTitledTextBox"/>
                  </p202:designTagLst>
                </p202:designPr>
              </p:ext>
            </p:extLst>
          </p:nvPr>
        </p:nvGraphicFramePr>
        <p:xfrm>
          <a:off x="5387542" y="548639"/>
          <a:ext cx="6189780" cy="5861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65834734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分子與機械的插圖">
            <a:extLst>
              <a:ext uri="{FF2B5EF4-FFF2-40B4-BE49-F238E27FC236}">
                <a16:creationId xmlns:a16="http://schemas.microsoft.com/office/drawing/2014/main" id="{6F456710-318A-45CA-B413-CDD9E36016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r="8705" b="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7CDD45A-4E22-9094-870E-FF454D4CC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b="1"/>
              <a:t>推動標準與互通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F5ABA69-CF5D-E918-238F-A9F6B4014ADC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互通性的挑戰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缺乏互通性妨礙數位技術發展，導致資訊交流受限，產業協作困難。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統一標準的重要性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建立統一標準不僅規範技術，更為產業成長和協同合作提供穩固基礎。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主動塑造未來介面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由被動相容轉型為積極參與設計未來介面，有助於推動創新與產業競爭力提升。</a:t>
            </a:r>
          </a:p>
        </p:txBody>
      </p:sp>
    </p:spTree>
    <p:extLst>
      <p:ext uri="{BB962C8B-B14F-4D97-AF65-F5344CB8AC3E}">
        <p14:creationId xmlns:p14="http://schemas.microsoft.com/office/powerpoint/2010/main" val="1247692435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數位概念，展現抽象的網路與安全優化與網際網路技術的概念">
            <a:extLst>
              <a:ext uri="{FF2B5EF4-FFF2-40B4-BE49-F238E27FC236}">
                <a16:creationId xmlns:a16="http://schemas.microsoft.com/office/drawing/2014/main" id="{21B90F75-4B6E-423E-BF8B-3E247B8A331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392" r="5960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82687C4-070D-D8CA-7C6A-E525B0C05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b="1"/>
              <a:t>資料主權與倫理守則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A5AE607-D9BB-7FC9-CFAA-1363D7C9D1DC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明確資料邊界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界定資料收集、使用及所有權的範圍，有效保護個人和組織的權益。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謹慎處理敏感資訊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管理敏感資訊時需特別小心，以降低法規與聲譽相關的風險。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確立政策與信任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建立清晰的資料政策，維持企業信任與合規，促進永續經營。</a:t>
            </a:r>
          </a:p>
        </p:txBody>
      </p:sp>
    </p:spTree>
    <p:extLst>
      <p:ext uri="{BB962C8B-B14F-4D97-AF65-F5344CB8AC3E}">
        <p14:creationId xmlns:p14="http://schemas.microsoft.com/office/powerpoint/2010/main" val="493579595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商業團隊腦力激盪">
            <a:extLst>
              <a:ext uri="{FF2B5EF4-FFF2-40B4-BE49-F238E27FC236}">
                <a16:creationId xmlns:a16="http://schemas.microsoft.com/office/drawing/2014/main" id="{EEF8A5EF-A1FC-4FF6-8F43-F3AD1347720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5884" r="-1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9BD8B64-2180-7627-2903-DCDFAC042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b="1"/>
              <a:t>擁抱變革與文化更新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E13D9F3-CCA6-5EF2-F1F4-FB54DF0AF4F1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領導與全員參與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有效變革需領導層設定明確方向，並鼓勵所有員工積極響應與參與。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明確目標和倡議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設立明確目標和實際倡議是推動組織前進與成功改革的關鍵。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文化更新的重要性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忽略組織文化更新會導致成長緩慢並抑制創新，即使技術再先進也難以突破。</a:t>
            </a:r>
          </a:p>
        </p:txBody>
      </p:sp>
    </p:spTree>
    <p:extLst>
      <p:ext uri="{BB962C8B-B14F-4D97-AF65-F5344CB8AC3E}">
        <p14:creationId xmlns:p14="http://schemas.microsoft.com/office/powerpoint/2010/main" val="2151222590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028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7940503-A0B1-347B-14E2-2FDA0A9E3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5" y="609600"/>
            <a:ext cx="3595678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b="1"/>
              <a:t>有效管控步調建議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8525315-DA21-8B99-0DAB-D6F322B84AD4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137034" y="2194102"/>
            <a:ext cx="3158741" cy="3908586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清晰願景與共識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明確溝通願景與策略，確保組織上下對目標達成共識，提升團隊向心力。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資源與策略對齊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將資源與活動對齊既定策略，有效提升執行效率與成果。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強化能力與效率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各層級持續能力建設，兼顧營運改善與效率，達成組織持續優化。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顧客導向靈活調整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以顧客或用戶需求為核心，靈活調整推進節奏，確保成果與市場接軌。</a:t>
            </a:r>
          </a:p>
        </p:txBody>
      </p:sp>
      <p:pic>
        <p:nvPicPr>
          <p:cNvPr id="5" name="內容版面配置區 4" descr="一群企業同事坐在會議室開會的鏡頭">
            <a:extLst>
              <a:ext uri="{FF2B5EF4-FFF2-40B4-BE49-F238E27FC236}">
                <a16:creationId xmlns:a16="http://schemas.microsoft.com/office/drawing/2014/main" id="{A876A8A0-B628-442B-AA4E-D41491B9610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068" r="19975" b="-2"/>
          <a:stretch>
            <a:fillRect/>
          </a:stretch>
        </p:blipFill>
        <p:spPr>
          <a:xfrm>
            <a:off x="4948188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45196662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箭頭、方向、目標、目標、焦點、選擇。">
            <a:extLst>
              <a:ext uri="{FF2B5EF4-FFF2-40B4-BE49-F238E27FC236}">
                <a16:creationId xmlns:a16="http://schemas.microsoft.com/office/drawing/2014/main" id="{D3D7F20A-7861-4725-8555-47253B9ABBE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r="5882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88EE669-6CAE-267F-4AD2-279CD3153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b="1"/>
              <a:t>清晰雙向策略溝通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55A8F06-E535-A1A8-441F-5405CA9EC8D4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策略目標分解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將策略自上而下分解至各部門，能減少阻力並清楚界定目標，消除模糊地帶。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雙向溝通對話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持續且雙向的溝通讓各部門充分理解方向，確保策略一致與目標共識。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資訊透明與協作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避免資訊不對稱與訊息碎片，提升組織協作效率，促進整體運作順暢。</a:t>
            </a:r>
          </a:p>
        </p:txBody>
      </p:sp>
    </p:spTree>
    <p:extLst>
      <p:ext uri="{BB962C8B-B14F-4D97-AF65-F5344CB8AC3E}">
        <p14:creationId xmlns:p14="http://schemas.microsoft.com/office/powerpoint/2010/main" val="1634714758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階層組織">
            <a:extLst>
              <a:ext uri="{FF2B5EF4-FFF2-40B4-BE49-F238E27FC236}">
                <a16:creationId xmlns:a16="http://schemas.microsoft.com/office/drawing/2014/main" id="{53F55C8D-918E-4151-B058-DB5B7E579B6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r="5882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795E168-28C5-F81A-BC71-84508BB4A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b="1"/>
              <a:t>資源與結構動態對齊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3DF5382-E6E7-D0C2-4359-81090EC368FB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彈性資源分配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預算、人力與時間可隨業務需求靈活調整，確保資源有效運用並即時回應市場變化。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altLang="zh-TW" sz="1400" b="1"/>
              <a:t>IT </a:t>
            </a:r>
            <a:r>
              <a:rPr lang="zh-TW" altLang="en-US" sz="1400" b="1"/>
              <a:t>與流程同步調整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altLang="zh-TW" sz="1400"/>
              <a:t>IT </a:t>
            </a:r>
            <a:r>
              <a:rPr lang="zh-TW" altLang="en-US" sz="1400"/>
              <a:t>系統與人工作流程需同時調整，確保運營效率並支援業務快速轉型。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提升組織敏捷性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透過動態對齊，企業能快速因應市場與環境挑戰，展現高度敏捷性。</a:t>
            </a:r>
          </a:p>
        </p:txBody>
      </p:sp>
    </p:spTree>
    <p:extLst>
      <p:ext uri="{BB962C8B-B14F-4D97-AF65-F5344CB8AC3E}">
        <p14:creationId xmlns:p14="http://schemas.microsoft.com/office/powerpoint/2010/main" val="1345164420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一群年輕人使用無線技術的攝影棚鏡頭，背景灰暗">
            <a:extLst>
              <a:ext uri="{FF2B5EF4-FFF2-40B4-BE49-F238E27FC236}">
                <a16:creationId xmlns:a16="http://schemas.microsoft.com/office/drawing/2014/main" id="{B4D9A1C3-98E2-4477-8CA6-5790E03D2F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4761" r="13331" b="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3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CB305BB-EC1F-2E68-7B32-7F1522F83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b="1"/>
              <a:t>全層級能力建設建議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10BB7FA-18EB-3E02-86AB-5EE724E41F5D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強化數位素養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提升員工的數位素養是組織轉型的根本，有助於適應新科技與工作模式。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領導與執行力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主管需展現執行力，領導者則應積極倡議新計劃並提供支持。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跨域合作與創新文化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跨部門合作可打破孤島，並培養試錯精神與學習文化，促進組織創新與成長。</a:t>
            </a:r>
          </a:p>
        </p:txBody>
      </p:sp>
    </p:spTree>
    <p:extLst>
      <p:ext uri="{BB962C8B-B14F-4D97-AF65-F5344CB8AC3E}">
        <p14:creationId xmlns:p14="http://schemas.microsoft.com/office/powerpoint/2010/main" val="3763214842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思考進展，尋找靈感。穿著黑色西裝的商人，頭部是齒輪（進度符號）。從小到中，再到大。箭頭從一個指向另一個。">
            <a:extLst>
              <a:ext uri="{FF2B5EF4-FFF2-40B4-BE49-F238E27FC236}">
                <a16:creationId xmlns:a16="http://schemas.microsoft.com/office/drawing/2014/main" id="{980408BC-0B8F-4717-A773-DACA55061E8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5884" r="-1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2CBACE-9118-8EC6-8E08-C490CE9BC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b="1"/>
              <a:t>營運持續與效率提升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13C1D37-1669-AF12-AF7D-E514E61FAE7F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持續改善推動變革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導入持續改善框架能促進組織變革並提升營運連續性，為企業帶來穩定成長。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altLang="zh-TW" sz="1400" b="1"/>
              <a:t>KPI </a:t>
            </a:r>
            <a:r>
              <a:rPr lang="zh-TW" altLang="en-US" sz="1400" b="1"/>
              <a:t>與生產力連結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將關鍵績效指標與生產力緊密連結，確保目標量化、成果可追蹤，提高工作效率。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策略性融入與永續發展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將轉型過程融入公司核心策略，避免僅為一次性專案，促進永續發展與效率提升。</a:t>
            </a:r>
          </a:p>
        </p:txBody>
      </p:sp>
    </p:spTree>
    <p:extLst>
      <p:ext uri="{BB962C8B-B14F-4D97-AF65-F5344CB8AC3E}">
        <p14:creationId xmlns:p14="http://schemas.microsoft.com/office/powerpoint/2010/main" val="3758881234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一群同事在會議中用筆電討論事情的畫面">
            <a:extLst>
              <a:ext uri="{FF2B5EF4-FFF2-40B4-BE49-F238E27FC236}">
                <a16:creationId xmlns:a16="http://schemas.microsoft.com/office/drawing/2014/main" id="{2760BE2B-14F6-48BE-BC16-EAD64BF2FA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5531" r="2" b="2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BB3DA83-4DB8-2728-8851-05C9D2031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b="1"/>
              <a:t>以客戶為節拍器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F3C3E60-635E-453F-55C0-79CF22CC9CC1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資料洞察即時調整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企業運用資料分析即時調整流程，有效並精準回應客戶需求，提升競爭力。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客製化與即時化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客製化與即時化服務已成主流，企業需提升動態調整與快速回應能力，才能滿足客戶期望。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敏捷感知及反應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市場需求快速變化，建立敏捷感知與反應機制是企業持續滿足客戶的關鍵。</a:t>
            </a:r>
          </a:p>
        </p:txBody>
      </p:sp>
    </p:spTree>
    <p:extLst>
      <p:ext uri="{BB962C8B-B14F-4D97-AF65-F5344CB8AC3E}">
        <p14:creationId xmlns:p14="http://schemas.microsoft.com/office/powerpoint/2010/main" val="3354861516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7C6405B-1C6A-89A8-8FF2-8F00EE3C0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altLang="zh-TW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Azure</a:t>
            </a:r>
            <a:r>
              <a:rPr lang="zh-TW" alt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市場版圖與成長</a:t>
            </a:r>
          </a:p>
        </p:txBody>
      </p:sp>
      <p:graphicFrame>
        <p:nvGraphicFramePr>
          <p:cNvPr id="4" name="內容版面配置區 4">
            <a:extLst>
              <a:ext uri="{FF2B5EF4-FFF2-40B4-BE49-F238E27FC236}">
                <a16:creationId xmlns:a16="http://schemas.microsoft.com/office/drawing/2014/main" id="{DE8E753F-CEC7-483D-A510-20D6B8978C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069741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VisualTitledTextBox"/>
                  </p202:designTagLst>
                </p202:designPr>
              </p:ext>
            </p:extLst>
          </p:nvPr>
        </p:nvGraphicFramePr>
        <p:xfrm>
          <a:off x="5387542" y="548639"/>
          <a:ext cx="6189780" cy="5861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32086077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世界地圖上的社群媒體網絡，美國被發現">
            <a:extLst>
              <a:ext uri="{FF2B5EF4-FFF2-40B4-BE49-F238E27FC236}">
                <a16:creationId xmlns:a16="http://schemas.microsoft.com/office/drawing/2014/main" id="{AC68F842-BEAD-404F-ABE0-29C2815F16E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3185" r="12437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4B044F0-76D9-E2EF-9A48-171A333FA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sz="4000" b="1"/>
              <a:t>Azure</a:t>
            </a:r>
            <a:r>
              <a:rPr lang="zh-TW" altLang="en-US" sz="4000" b="1"/>
              <a:t>全球區域佈局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52D5A20-BABB-A7B5-A2A9-A84FB8E02F19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altLang="zh-TW" sz="1400" b="1"/>
              <a:t>EMEA</a:t>
            </a:r>
            <a:r>
              <a:rPr lang="zh-TW" altLang="en-US" sz="1400" b="1"/>
              <a:t>與北美市場需求強勁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altLang="zh-TW" sz="1400"/>
              <a:t>EMEA</a:t>
            </a:r>
            <a:r>
              <a:rPr lang="zh-TW" altLang="en-US" sz="1400"/>
              <a:t>和北美地區各自擁有超過</a:t>
            </a:r>
            <a:r>
              <a:rPr lang="en-US" altLang="zh-TW" sz="1400"/>
              <a:t>13</a:t>
            </a:r>
            <a:r>
              <a:rPr lang="zh-TW" altLang="en-US" sz="1400"/>
              <a:t>萬客戶，顯示雲端服務在這些區域具高度需求。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全球超過</a:t>
            </a:r>
            <a:r>
              <a:rPr lang="en-US" altLang="zh-TW" sz="1400" b="1"/>
              <a:t>60</a:t>
            </a:r>
            <a:r>
              <a:rPr lang="zh-TW" altLang="en-US" sz="1400" b="1"/>
              <a:t>個資料中心區域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altLang="zh-TW" sz="1400"/>
              <a:t>Azure</a:t>
            </a:r>
            <a:r>
              <a:rPr lang="zh-TW" altLang="en-US" sz="1400"/>
              <a:t>在全球佈建超過</a:t>
            </a:r>
            <a:r>
              <a:rPr lang="en-US" altLang="zh-TW" sz="1400"/>
              <a:t>60</a:t>
            </a:r>
            <a:r>
              <a:rPr lang="zh-TW" altLang="en-US" sz="1400"/>
              <a:t>個資料中心區域，確保穩定支撐各地客戶的多元雲端需求。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推動全球業務發展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altLang="zh-TW" sz="1400"/>
              <a:t>Azure</a:t>
            </a:r>
            <a:r>
              <a:rPr lang="zh-TW" altLang="en-US" sz="1400"/>
              <a:t>龐大基礎設施網絡，有效協助企業擴展業務版圖，強化全球競爭力。</a:t>
            </a:r>
          </a:p>
        </p:txBody>
      </p:sp>
    </p:spTree>
    <p:extLst>
      <p:ext uri="{BB962C8B-B14F-4D97-AF65-F5344CB8AC3E}">
        <p14:creationId xmlns:p14="http://schemas.microsoft.com/office/powerpoint/2010/main" val="4089009666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AFB2EA4-60EF-17B2-87A1-7A064AAF0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5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Azure 2024 </a:t>
            </a:r>
            <a:r>
              <a:rPr lang="zh-TW" altLang="en-US" sz="5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客群分析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6590638-CCB3-E390-FD99-B3DF797D44CF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30936" y="2660904"/>
            <a:ext cx="4818888" cy="354787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300" b="1"/>
              <a:t>新創企業增長最快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300"/>
              <a:t>新創企業客群年增率高達 </a:t>
            </a:r>
            <a:r>
              <a:rPr lang="en-US" altLang="zh-TW" sz="1300"/>
              <a:t>23%</a:t>
            </a:r>
            <a:r>
              <a:rPr lang="zh-TW" altLang="en-US" sz="1300"/>
              <a:t>，成為 </a:t>
            </a:r>
            <a:r>
              <a:rPr lang="en-US" altLang="zh-TW" sz="1300"/>
              <a:t>Azure </a:t>
            </a:r>
            <a:r>
              <a:rPr lang="zh-TW" altLang="en-US" sz="1300"/>
              <a:t>最具潛力的增長來源。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300" b="1"/>
              <a:t>大型企業客戶擴增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altLang="zh-TW" sz="1300"/>
              <a:t>2024 </a:t>
            </a:r>
            <a:r>
              <a:rPr lang="zh-TW" altLang="en-US" sz="1300"/>
              <a:t>年新增 </a:t>
            </a:r>
            <a:r>
              <a:rPr lang="en-US" altLang="zh-TW" sz="1300"/>
              <a:t>310 </a:t>
            </a:r>
            <a:r>
              <a:rPr lang="zh-TW" altLang="en-US" sz="1300"/>
              <a:t>家大型企業，顯示更多企業選擇 </a:t>
            </a:r>
            <a:r>
              <a:rPr lang="en-US" altLang="zh-TW" sz="1300"/>
              <a:t>Azure </a:t>
            </a:r>
            <a:r>
              <a:rPr lang="zh-TW" altLang="en-US" sz="1300"/>
              <a:t>作為雲端平台。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300" b="1"/>
              <a:t>雲端策略多元發展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altLang="zh-TW" sz="1300"/>
              <a:t>64% </a:t>
            </a:r>
            <a:r>
              <a:rPr lang="zh-TW" altLang="en-US" sz="1300"/>
              <a:t>客戶僅用 </a:t>
            </a:r>
            <a:r>
              <a:rPr lang="en-US" altLang="zh-TW" sz="1300"/>
              <a:t>Azure</a:t>
            </a:r>
            <a:r>
              <a:rPr lang="zh-TW" altLang="en-US" sz="1300"/>
              <a:t>，</a:t>
            </a:r>
            <a:r>
              <a:rPr lang="en-US" altLang="zh-TW" sz="1300"/>
              <a:t>36% </a:t>
            </a:r>
            <a:r>
              <a:rPr lang="zh-TW" altLang="en-US" sz="1300"/>
              <a:t>採多雲策略，展現不同雲端部署模式。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altLang="zh-TW" sz="1300" b="1"/>
              <a:t>Azure </a:t>
            </a:r>
            <a:r>
              <a:rPr lang="zh-TW" altLang="en-US" sz="1300" b="1"/>
              <a:t>與 </a:t>
            </a:r>
            <a:r>
              <a:rPr lang="en-US" altLang="zh-TW" sz="1300" b="1"/>
              <a:t>Oracle </a:t>
            </a:r>
            <a:r>
              <a:rPr lang="zh-TW" altLang="en-US" sz="1300" b="1"/>
              <a:t>合作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altLang="zh-TW" sz="1300"/>
              <a:t>Azure </a:t>
            </a:r>
            <a:r>
              <a:rPr lang="zh-TW" altLang="en-US" sz="1300"/>
              <a:t>與 </a:t>
            </a:r>
            <a:r>
              <a:rPr lang="en-US" altLang="zh-TW" sz="1300"/>
              <a:t>Oracle </a:t>
            </a:r>
            <a:r>
              <a:rPr lang="zh-TW" altLang="en-US" sz="1300"/>
              <a:t>推出 </a:t>
            </a:r>
            <a:r>
              <a:rPr lang="en-US" altLang="zh-TW" sz="1300"/>
              <a:t>Oracle Database@Azure</a:t>
            </a:r>
            <a:r>
              <a:rPr lang="zh-TW" altLang="en-US" sz="1300"/>
              <a:t>，提升企業雲端整合與服務效率。</a:t>
            </a:r>
          </a:p>
        </p:txBody>
      </p:sp>
      <p:pic>
        <p:nvPicPr>
          <p:cNvPr id="5" name="內容版面配置區 4" descr="雲端運算概念被隔離在白色背景上">
            <a:extLst>
              <a:ext uri="{FF2B5EF4-FFF2-40B4-BE49-F238E27FC236}">
                <a16:creationId xmlns:a16="http://schemas.microsoft.com/office/drawing/2014/main" id="{414376E3-3C7A-4A7C-8C15-494041A2738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8090" r="10164" b="3"/>
          <a:stretch>
            <a:fillRect/>
          </a:stretch>
        </p:blipFill>
        <p:spPr>
          <a:xfrm>
            <a:off x="6099048" y="924839"/>
            <a:ext cx="5458968" cy="500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832446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組裝齒輪的團隊 - 商業團隊合作">
            <a:extLst>
              <a:ext uri="{FF2B5EF4-FFF2-40B4-BE49-F238E27FC236}">
                <a16:creationId xmlns:a16="http://schemas.microsoft.com/office/drawing/2014/main" id="{6EC9FCC6-369D-41AE-93CA-AFE0CF20939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t="7331" b="4015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B8C99AD-835A-B1C5-5E51-3DF7BC11C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b="1"/>
              <a:t>可控步調，穩健致勝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6E83D8E-9586-1687-0718-60847204A4EB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步調管理重塑競爭力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將策略、能力、文化與市場節奏重新耦合，有助於企業建立長期競爭優勢。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速度與穩健兼顧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採用五指引和五建議，企業轉型既能保持靈活速度，又能確保穩健成長。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機制驅動持續成長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從試點到擴散，應仰賴完善機制，避免一時衝刺，確保持續且可控的成長步伐。</a:t>
            </a:r>
          </a:p>
        </p:txBody>
      </p:sp>
    </p:spTree>
    <p:extLst>
      <p:ext uri="{BB962C8B-B14F-4D97-AF65-F5344CB8AC3E}">
        <p14:creationId xmlns:p14="http://schemas.microsoft.com/office/powerpoint/2010/main" val="320259742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3F5AA1-EDF5-8D73-5507-9A110632D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z="4000" b="1"/>
              <a:t>參考資料與來源</a:t>
            </a:r>
          </a:p>
        </p:txBody>
      </p:sp>
      <p:pic>
        <p:nvPicPr>
          <p:cNvPr id="5" name="內容版面配置區 4" descr="桌上堆著一疊雜誌">
            <a:extLst>
              <a:ext uri="{FF2B5EF4-FFF2-40B4-BE49-F238E27FC236}">
                <a16:creationId xmlns:a16="http://schemas.microsoft.com/office/drawing/2014/main" id="{ED7A299A-3849-4ED4-951D-4327AA7DB74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37255" r="3397" b="-2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A07F88A-F004-1476-0D4A-1AA2941F3ACB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17734" y="2614612"/>
            <a:ext cx="5291663" cy="3752849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學術期刊引用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本報告內容引用 </a:t>
            </a:r>
            <a:r>
              <a:rPr lang="en-US" altLang="zh-TW" sz="1400"/>
              <a:t>Journal of Business Strategy </a:t>
            </a:r>
            <a:r>
              <a:rPr lang="zh-TW" altLang="en-US" sz="1400"/>
              <a:t>及 </a:t>
            </a:r>
            <a:r>
              <a:rPr lang="en-US" altLang="zh-TW" sz="1400"/>
              <a:t>Business Horizons </a:t>
            </a:r>
            <a:r>
              <a:rPr lang="zh-TW" altLang="en-US" sz="1400"/>
              <a:t>等學術期刊，提升資訊權威性與專業度。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市場報告資料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引述 </a:t>
            </a:r>
            <a:r>
              <a:rPr lang="en-US" altLang="zh-TW" sz="1400"/>
              <a:t>HG Insights </a:t>
            </a:r>
            <a:r>
              <a:rPr lang="zh-TW" altLang="en-US" sz="1400"/>
              <a:t>於</a:t>
            </a:r>
            <a:r>
              <a:rPr lang="en-US" altLang="zh-TW" sz="1400"/>
              <a:t>2025</a:t>
            </a:r>
            <a:r>
              <a:rPr lang="zh-TW" altLang="en-US" sz="1400"/>
              <a:t>年</a:t>
            </a:r>
            <a:r>
              <a:rPr lang="en-US" altLang="zh-TW" sz="1400"/>
              <a:t>2</a:t>
            </a:r>
            <a:r>
              <a:rPr lang="zh-TW" altLang="en-US" sz="1400"/>
              <a:t>月</a:t>
            </a:r>
            <a:r>
              <a:rPr lang="en-US" altLang="zh-TW" sz="1400"/>
              <a:t>11</a:t>
            </a:r>
            <a:r>
              <a:rPr lang="zh-TW" altLang="en-US" sz="1400"/>
              <a:t>日發布的 </a:t>
            </a:r>
            <a:r>
              <a:rPr lang="en-US" altLang="zh-TW" sz="1400"/>
              <a:t>Azure </a:t>
            </a:r>
            <a:r>
              <a:rPr lang="zh-TW" altLang="en-US" sz="1400"/>
              <a:t>市場佔有率與買家概況報告，提供最新市場動態。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zh-TW" altLang="en-US" sz="1400" b="1"/>
              <a:t>正確註明來源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TW" altLang="en-US" sz="1400"/>
              <a:t>建議於頁腳以標準格式註明所有原始來源並附上連結，確保資訊透明與可查證。</a:t>
            </a:r>
          </a:p>
        </p:txBody>
      </p:sp>
    </p:spTree>
    <p:extLst>
      <p:ext uri="{BB962C8B-B14F-4D97-AF65-F5344CB8AC3E}">
        <p14:creationId xmlns:p14="http://schemas.microsoft.com/office/powerpoint/2010/main" val="154546554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4939</Words>
  <Application>Microsoft Office PowerPoint</Application>
  <PresentationFormat>寬螢幕</PresentationFormat>
  <Paragraphs>314</Paragraphs>
  <Slides>34</Slides>
  <Notes>34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38" baseType="lpstr">
      <vt:lpstr>Aptos</vt:lpstr>
      <vt:lpstr>Aptos Display</vt:lpstr>
      <vt:lpstr>Arial</vt:lpstr>
      <vt:lpstr>Office 佈景主題</vt:lpstr>
      <vt:lpstr>數位轉型引領潮流</vt:lpstr>
      <vt:lpstr>簡報目錄總覽</vt:lpstr>
      <vt:lpstr>轉型成功關鍵摘要</vt:lpstr>
      <vt:lpstr>為何重視步調？</vt:lpstr>
      <vt:lpstr>掌握轉型步調要點</vt:lpstr>
      <vt:lpstr>產業數位成熟度比較</vt:lpstr>
      <vt:lpstr>數位成熟度的分歧</vt:lpstr>
      <vt:lpstr>拒絕「零策略」陷阱</vt:lpstr>
      <vt:lpstr>策略驅動四要務解析</vt:lpstr>
      <vt:lpstr>推動組織敏捷轉型</vt:lpstr>
      <vt:lpstr>Digital Recoupling 四要素</vt:lpstr>
      <vt:lpstr>反思性與動態校正</vt:lpstr>
      <vt:lpstr>開放性與外部回饋</vt:lpstr>
      <vt:lpstr>主動性提升再連結</vt:lpstr>
      <vt:lpstr>承諾性與共同轉型</vt:lpstr>
      <vt:lpstr>轉型：文化與能力重塑</vt:lpstr>
      <vt:lpstr>轉型的深層意義</vt:lpstr>
      <vt:lpstr>數位覺察型企業五指引</vt:lpstr>
      <vt:lpstr>小步快跑累積資產</vt:lpstr>
      <vt:lpstr>策略結盟與分工要點</vt:lpstr>
      <vt:lpstr>推動標準與互通</vt:lpstr>
      <vt:lpstr>資料主權與倫理守則</vt:lpstr>
      <vt:lpstr>擁抱變革與文化更新</vt:lpstr>
      <vt:lpstr>有效管控步調建議</vt:lpstr>
      <vt:lpstr>清晰雙向策略溝通</vt:lpstr>
      <vt:lpstr>資源與結構動態對齊</vt:lpstr>
      <vt:lpstr>全層級能力建設建議</vt:lpstr>
      <vt:lpstr>營運持續與效率提升</vt:lpstr>
      <vt:lpstr>以客戶為節拍器</vt:lpstr>
      <vt:lpstr>Azure市場版圖與成長</vt:lpstr>
      <vt:lpstr>Azure全球區域佈局</vt:lpstr>
      <vt:lpstr>Azure 2024 客群分析</vt:lpstr>
      <vt:lpstr>可控步調，穩健致勝</vt:lpstr>
      <vt:lpstr>參考資料與來源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黃家瑞</dc:creator>
  <cp:lastModifiedBy>黃家瑞</cp:lastModifiedBy>
  <cp:revision>1</cp:revision>
  <dcterms:created xsi:type="dcterms:W3CDTF">2026-02-07T04:28:26Z</dcterms:created>
  <dcterms:modified xsi:type="dcterms:W3CDTF">2026-04-01T04:32:22Z</dcterms:modified>
</cp:coreProperties>
</file>